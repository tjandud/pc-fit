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09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28600"/>
            <a:ext cx="11274552" cy="27432"/>
          </a:xfrm>
          <a:prstGeom prst="rect">
            <a:avLst/>
          </a:prstGeom>
          <a:solidFill>
            <a:srgbClr val="00F3FF">
              <a:alpha val="30000"/>
            </a:srgbClr>
          </a:solidFill>
          <a:ln w="12700">
            <a:solidFill>
              <a:srgbClr val="00F3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84048"/>
            <a:ext cx="3474720" cy="310896"/>
          </a:xfrm>
          <a:prstGeom prst="roundRect">
            <a:avLst>
              <a:gd name="adj" fmla="val 50000"/>
            </a:avLst>
          </a:prstGeom>
          <a:solidFill>
            <a:srgbClr val="00F3FF">
              <a:alpha val="15000"/>
            </a:srgbClr>
          </a:solidFill>
          <a:ln w="12700">
            <a:solidFill>
              <a:srgbClr val="00F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84048"/>
            <a:ext cx="3474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F3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소프트웨어공학 2학기 프로젝트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6355080"/>
            <a:ext cx="11274552" cy="1828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64190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PC-FIT 2.0 : AI 부품·가격 비교 &amp; 가성비 어드바이저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9601200" y="6419088"/>
            <a:ext cx="2130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0F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SLIDE 01 / 09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02920" y="1097280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PC-FIT 2.0 : AI DECISION ADVISOR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1508760"/>
            <a:ext cx="58521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견적 후의 고민을 끝내는
</a:t>
            </a:r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00F3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부품·가격 비교
</a:t>
            </a:r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5C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가성비 어드바이저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502920" y="3703320"/>
            <a:ext cx="5852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"돈 더 주고 상위 부품을 살 가치가 있을까?"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Supabase 부품 DB(945종) + 공인 벤치마크(3DMark·퀘이사존) 기반으로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가격 차이 대비 실제 게임 프레임(FPS) 상승폭을 즉시 시각화합니다.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02920" y="5029200"/>
            <a:ext cx="1965960" cy="384048"/>
          </a:xfrm>
          <a:prstGeom prst="roundRect">
            <a:avLst>
              <a:gd name="adj" fmla="val 47619"/>
            </a:avLst>
          </a:prstGeom>
          <a:solidFill>
            <a:srgbClr val="00F3FF">
              <a:alpha val="15000"/>
            </a:srgbClr>
          </a:solidFill>
          <a:ln w="12700">
            <a:solidFill>
              <a:srgbClr val="00F3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5029200"/>
            <a:ext cx="1965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F3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해결하고자 하는 문제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606040" y="5029200"/>
            <a:ext cx="1965960" cy="384048"/>
          </a:xfrm>
          <a:prstGeom prst="roundRect">
            <a:avLst>
              <a:gd name="adj" fmla="val 47619"/>
            </a:avLst>
          </a:prstGeom>
          <a:solidFill>
            <a:srgbClr val="D97BFF">
              <a:alpha val="15000"/>
            </a:srgbClr>
          </a:solidFill>
          <a:ln w="12700">
            <a:solidFill>
              <a:srgbClr val="D97B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06040" y="5029200"/>
            <a:ext cx="1965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AI 활용 해결 방안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17720" y="5029200"/>
            <a:ext cx="1965960" cy="384048"/>
          </a:xfrm>
          <a:prstGeom prst="roundRect">
            <a:avLst>
              <a:gd name="adj" fmla="val 47619"/>
            </a:avLst>
          </a:prstGeom>
          <a:solidFill>
            <a:srgbClr val="FF5CA8">
              <a:alpha val="15000"/>
            </a:srgbClr>
          </a:solidFill>
          <a:ln w="12700">
            <a:solidFill>
              <a:srgbClr val="FF5CA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17720" y="5029200"/>
            <a:ext cx="1965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5C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 기획서 &amp; 동작 코드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675120" y="1051560"/>
            <a:ext cx="5029200" cy="4846320"/>
          </a:xfrm>
          <a:prstGeom prst="roundRect">
            <a:avLst>
              <a:gd name="adj" fmla="val 3774"/>
            </a:avLst>
          </a:prstGeom>
          <a:solidFill>
            <a:srgbClr val="0F1626"/>
          </a:solidFill>
          <a:ln w="12700">
            <a:solidFill>
              <a:srgbClr val="00F3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49440" y="1280160"/>
            <a:ext cx="4480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F3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⚡ AI 부품 비교 &amp; 가성비 어드바이저 미리보기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949440" y="1737360"/>
            <a:ext cx="4480560" cy="1143000"/>
          </a:xfrm>
          <a:prstGeom prst="roundRect">
            <a:avLst>
              <a:gd name="adj" fmla="val 12000"/>
            </a:avLst>
          </a:prstGeom>
          <a:solidFill>
            <a:srgbClr val="080D1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040880" y="1810512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F3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현재 견적 부품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00F3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RTX 5070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00F3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TimeSpy 22,900점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961120" y="2084832"/>
            <a:ext cx="457200" cy="457200"/>
          </a:xfrm>
          <a:prstGeom prst="ellipse">
            <a:avLst/>
          </a:prstGeom>
          <a:solidFill>
            <a:srgbClr val="FF0080">
              <a:alpha val="25000"/>
            </a:srgbClr>
          </a:solidFill>
          <a:ln w="12700">
            <a:solidFill>
              <a:srgbClr val="FF5CA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961120" y="208483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5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509760" y="1810512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5C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고민 중인 상위 모델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5C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RTX 5070 Ti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5C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TimeSpy 27,800점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949440" y="3108960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가격 차액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001000" y="3145536"/>
            <a:ext cx="3383280" cy="256032"/>
          </a:xfrm>
          <a:prstGeom prst="roundRect">
            <a:avLst>
              <a:gd name="adj" fmla="val 50000"/>
            </a:avLst>
          </a:prstGeom>
          <a:solidFill>
            <a:srgbClr val="080D1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01000" y="3145536"/>
            <a:ext cx="3200400" cy="256032"/>
          </a:xfrm>
          <a:prstGeom prst="roundRect">
            <a:avLst>
              <a:gd name="adj" fmla="val 50000"/>
            </a:avLst>
          </a:prstGeom>
          <a:solidFill>
            <a:srgbClr val="FF0080"/>
          </a:solidFill>
          <a:ln w="12700">
            <a:solidFill>
              <a:srgbClr val="FF00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92440" y="3145536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+37~60만 원 추가 지출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949440" y="3611880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QHD 배그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001000" y="3648456"/>
            <a:ext cx="3383280" cy="256032"/>
          </a:xfrm>
          <a:prstGeom prst="roundRect">
            <a:avLst>
              <a:gd name="adj" fmla="val 50000"/>
            </a:avLst>
          </a:prstGeom>
          <a:solidFill>
            <a:srgbClr val="080D1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01000" y="3648456"/>
            <a:ext cx="2194560" cy="256032"/>
          </a:xfrm>
          <a:prstGeom prst="roundRect">
            <a:avLst>
              <a:gd name="adj" fmla="val 50000"/>
            </a:avLst>
          </a:prstGeom>
          <a:solidFill>
            <a:srgbClr val="00F3FF"/>
          </a:solidFill>
          <a:ln w="12700">
            <a:solidFill>
              <a:srgbClr val="00F3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092440" y="3648456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232 ➔ 272 FPS (+17% ↑)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949440" y="4114800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사이버펑크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8001000" y="4151376"/>
            <a:ext cx="3383280" cy="256032"/>
          </a:xfrm>
          <a:prstGeom prst="roundRect">
            <a:avLst>
              <a:gd name="adj" fmla="val 50000"/>
            </a:avLst>
          </a:prstGeom>
          <a:solidFill>
            <a:srgbClr val="080D1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001000" y="4151376"/>
            <a:ext cx="2560320" cy="256032"/>
          </a:xfrm>
          <a:prstGeom prst="roundRect">
            <a:avLst>
              <a:gd name="adj" fmla="val 50000"/>
            </a:avLst>
          </a:prstGeom>
          <a:solidFill>
            <a:srgbClr val="00E676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092440" y="4151376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 ➔ 116 FPS (+23% ↑)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949440" y="4709160"/>
            <a:ext cx="4480560" cy="868680"/>
          </a:xfrm>
          <a:prstGeom prst="roundRect">
            <a:avLst>
              <a:gd name="adj" fmla="val 12632"/>
            </a:avLst>
          </a:prstGeom>
          <a:solidFill>
            <a:srgbClr val="00F3FF">
              <a:alpha val="12000"/>
            </a:srgbClr>
          </a:solidFill>
          <a:ln w="12700">
            <a:solidFill>
              <a:srgbClr val="00F3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086600" y="4773168"/>
            <a:ext cx="4206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 AI 판정: QHD 배그 기준 이미 232 FPS로 충분!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RTX 5070 유지로 최대 60만 원 절약 추천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609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28600"/>
            <a:ext cx="11274552" cy="27432"/>
          </a:xfrm>
          <a:prstGeom prst="rect">
            <a:avLst/>
          </a:prstGeom>
          <a:solidFill>
            <a:srgbClr val="00F3FF">
              <a:alpha val="30000"/>
            </a:srgbClr>
          </a:solidFill>
          <a:ln w="12700">
            <a:solidFill>
              <a:srgbClr val="00F3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84048"/>
            <a:ext cx="3474720" cy="310896"/>
          </a:xfrm>
          <a:prstGeom prst="roundRect">
            <a:avLst>
              <a:gd name="adj" fmla="val 50000"/>
            </a:avLst>
          </a:prstGeom>
          <a:solidFill>
            <a:srgbClr val="00F3FF">
              <a:alpha val="15000"/>
            </a:srgbClr>
          </a:solidFill>
          <a:ln w="12700">
            <a:solidFill>
              <a:srgbClr val="00F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84048"/>
            <a:ext cx="3474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F3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 ROADMAP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74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1학기 완성 기반 위에서 2학기 무엇을 추가했는가?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6355080"/>
            <a:ext cx="11274552" cy="1828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64190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PC-FIT 2.0 : AI 부품·가격 비교 &amp; 가성비 어드바이저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9601200" y="6419088"/>
            <a:ext cx="2130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0F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SLIDE 02 / 09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1417320"/>
            <a:ext cx="4937760" cy="4663440"/>
          </a:xfrm>
          <a:prstGeom prst="roundRect">
            <a:avLst>
              <a:gd name="adj" fmla="val 3922"/>
            </a:avLst>
          </a:prstGeom>
          <a:solidFill>
            <a:srgbClr val="0F1626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16459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1학기 완성 (Baseline)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96596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F3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"예산·용도 맞춤 초기 견적 생성"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731520" y="2606040"/>
            <a:ext cx="1371600" cy="1508760"/>
          </a:xfrm>
          <a:prstGeom prst="roundRect">
            <a:avLst>
              <a:gd name="adj" fmla="val 10000"/>
            </a:avLst>
          </a:prstGeom>
          <a:solidFill>
            <a:srgbClr val="080D1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697480"/>
            <a:ext cx="1371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📋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5단계 설문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용도·예산 입력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194560" y="2606040"/>
            <a:ext cx="1371600" cy="1508760"/>
          </a:xfrm>
          <a:prstGeom prst="roundRect">
            <a:avLst>
              <a:gd name="adj" fmla="val 10000"/>
            </a:avLst>
          </a:prstGeom>
          <a:solidFill>
            <a:srgbClr val="080D1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94560" y="2697480"/>
            <a:ext cx="1371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⚙️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호환성 검증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소켓·파워 체크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0" y="2606040"/>
            <a:ext cx="1371600" cy="1508760"/>
          </a:xfrm>
          <a:prstGeom prst="roundRect">
            <a:avLst>
              <a:gd name="adj" fmla="val 10000"/>
            </a:avLst>
          </a:prstGeom>
          <a:solidFill>
            <a:srgbClr val="080D1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0" y="2697480"/>
            <a:ext cx="1371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🖥️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견적서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8종 부품 도출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4389120"/>
            <a:ext cx="4389120" cy="1371600"/>
          </a:xfrm>
          <a:prstGeom prst="roundRect">
            <a:avLst>
              <a:gd name="adj" fmla="val 10000"/>
            </a:avLst>
          </a:prstGeom>
          <a:solidFill>
            <a:srgbClr val="FF0080">
              <a:alpha val="14000"/>
            </a:srgbClr>
          </a:solidFill>
          <a:ln w="12700">
            <a:solidFill>
              <a:srgbClr val="FF5CA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4480560"/>
            <a:ext cx="4114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🚨 1학기 완료 후 발견된 실제 문제점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"견적은 나왔는데... 여기서 돈 더 주고 윗등급을 살지 말지 몰라서 다시 유튜브를 뒤져야 하네?"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40680" y="338328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F3FF"/>
                </a:solidFill>
              </a:rPr>
              <a:t>➔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6126480" y="1417320"/>
            <a:ext cx="5577840" cy="4663440"/>
          </a:xfrm>
          <a:prstGeom prst="roundRect">
            <a:avLst>
              <a:gd name="adj" fmla="val 3922"/>
            </a:avLst>
          </a:prstGeom>
          <a:solidFill>
            <a:srgbClr val="0F1626"/>
          </a:solidFill>
          <a:ln w="12700">
            <a:solidFill>
              <a:srgbClr val="00F3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0" y="1645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5C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2학기 신규 개발 (실제 구현 완료)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00800" y="196596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"최종 견적 내 AI 가격·성능 비교 &amp; 차트 시각화"</a:t>
            </a:r>
            <a:endParaRPr lang="en-US" sz="1900" dirty="0"/>
          </a:p>
        </p:txBody>
      </p:sp>
      <p:sp>
        <p:nvSpPr>
          <p:cNvPr id="24" name="Shape 22"/>
          <p:cNvSpPr/>
          <p:nvPr/>
        </p:nvSpPr>
        <p:spPr>
          <a:xfrm>
            <a:off x="6400800" y="2560320"/>
            <a:ext cx="5029200" cy="960120"/>
          </a:xfrm>
          <a:prstGeom prst="roundRect">
            <a:avLst>
              <a:gd name="adj" fmla="val 13333"/>
            </a:avLst>
          </a:prstGeom>
          <a:solidFill>
            <a:srgbClr val="080D1A"/>
          </a:solidFill>
          <a:ln w="12700">
            <a:solidFill>
              <a:srgbClr val="00F3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37960" y="2633472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📊 AI 부품 비교 &amp; 가성비 어드바이저 (PartAdvisorCard)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클릭 한 번으로 두 부품의 게임 프레임(FPS) 막대차트와 스펙·가격 비교표 즉시 생성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400800" y="3703320"/>
            <a:ext cx="5029200" cy="960120"/>
          </a:xfrm>
          <a:prstGeom prst="roundRect">
            <a:avLst>
              <a:gd name="adj" fmla="val 13333"/>
            </a:avLst>
          </a:prstGeom>
          <a:solidFill>
            <a:srgbClr val="080D1A"/>
          </a:solidFill>
          <a:ln w="12700">
            <a:solidFill>
              <a:srgbClr val="D97B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37960" y="3776472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🛡️ Supabase DB(945종) + 공인 벤치마크 교차 검증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3DMark Time Spy · 퀘이사존 FPS · Cinebench R23 실측 데이터를 주입해 거짓말 차단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400800" y="4846320"/>
            <a:ext cx="5029200" cy="960120"/>
          </a:xfrm>
          <a:prstGeom prst="roundRect">
            <a:avLst>
              <a:gd name="adj" fmla="val 13333"/>
            </a:avLst>
          </a:prstGeom>
          <a:solidFill>
            <a:srgbClr val="080D1A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37960" y="4919472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🛒 네이버 쇼핑 최저가 연동 &amp; 커뮤니티 이륙 심사소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부품 카드별 네이버 가격비교 즉시 연결 및 유저 찬반 투표·댓글 피드백 완성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609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28600"/>
            <a:ext cx="11274552" cy="27432"/>
          </a:xfrm>
          <a:prstGeom prst="rect">
            <a:avLst/>
          </a:prstGeom>
          <a:solidFill>
            <a:srgbClr val="00F3FF">
              <a:alpha val="30000"/>
            </a:srgbClr>
          </a:solidFill>
          <a:ln w="12700">
            <a:solidFill>
              <a:srgbClr val="00F3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84048"/>
            <a:ext cx="3474720" cy="310896"/>
          </a:xfrm>
          <a:prstGeom prst="roundRect">
            <a:avLst>
              <a:gd name="adj" fmla="val 50000"/>
            </a:avLst>
          </a:prstGeom>
          <a:solidFill>
            <a:srgbClr val="FF5CA8">
              <a:alpha val="15000"/>
            </a:srgbClr>
          </a:solidFill>
          <a:ln w="12700">
            <a:solidFill>
              <a:srgbClr val="FF5C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84048"/>
            <a:ext cx="3474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5C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해결하고자 하는 문제 — 왜 만들었는가?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74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견적을 맞춘 뒤 친구들이 겪은 3가지 실제 고민 사례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6355080"/>
            <a:ext cx="11274552" cy="1828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64190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PC-FIT 2.0 : AI 부품·가격 비교 &amp; 가성비 어드바이저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9601200" y="6419088"/>
            <a:ext cx="2130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0F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SLIDE 03 / 09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1417320"/>
            <a:ext cx="3639312" cy="4663440"/>
          </a:xfrm>
          <a:prstGeom prst="roundRect">
            <a:avLst>
              <a:gd name="adj" fmla="val 5025"/>
            </a:avLst>
          </a:prstGeom>
          <a:solidFill>
            <a:srgbClr val="0F1626"/>
          </a:solidFill>
          <a:ln w="12700">
            <a:solidFill>
              <a:srgbClr val="FF5CA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160020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5C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사례 01 · 내 친구의 실제 고민 🎮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8368" y="1920240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"견적 다 짰는데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5070 살까, 5070 Ti 살까?"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58368" y="2743200"/>
            <a:ext cx="3236976" cy="960120"/>
          </a:xfrm>
          <a:prstGeom prst="roundRect">
            <a:avLst>
              <a:gd name="adj" fmla="val 11429"/>
            </a:avLst>
          </a:prstGeom>
          <a:solidFill>
            <a:srgbClr val="080D1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2788920"/>
            <a:ext cx="318211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RTX 5070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(VRAM 12GB)   VS   RTX 5070 Ti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(VRAM 16GB)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68680" y="3840480"/>
            <a:ext cx="2816352" cy="384048"/>
          </a:xfrm>
          <a:prstGeom prst="roundRect">
            <a:avLst>
              <a:gd name="adj" fmla="val 47619"/>
            </a:avLst>
          </a:prstGeom>
          <a:solidFill>
            <a:srgbClr val="FF5CA8">
              <a:alpha val="18000"/>
            </a:srgbClr>
          </a:solidFill>
          <a:ln w="12700">
            <a:solidFill>
              <a:srgbClr val="FF5C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3840480"/>
            <a:ext cx="28163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5C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💸 가격 차이 최대 +60만 원!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58368" y="4389120"/>
            <a:ext cx="3236976" cy="1463040"/>
          </a:xfrm>
          <a:prstGeom prst="roundRect">
            <a:avLst>
              <a:gd name="adj" fmla="val 7500"/>
            </a:avLst>
          </a:prstGeom>
          <a:solidFill>
            <a:srgbClr val="080D1A"/>
          </a:solidFill>
          <a:ln w="12700">
            <a:solidFill>
              <a:srgbClr val="FF5C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4462272"/>
            <a:ext cx="299923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"성능 차이 나는 건 알겠는데, 지금 내가 할 게임과 앞으로 할 게임에 60만 원이나 더 주고 사야 하나?"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251960" y="1417320"/>
            <a:ext cx="3639312" cy="4663440"/>
          </a:xfrm>
          <a:prstGeom prst="roundRect">
            <a:avLst>
              <a:gd name="adj" fmla="val 5025"/>
            </a:avLst>
          </a:prstGeom>
          <a:solidFill>
            <a:srgbClr val="0F1626"/>
          </a:solidFill>
          <a:ln w="12700">
            <a:solidFill>
              <a:srgbClr val="00F3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53128" y="160020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F3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사례 02 · CPU 게이밍 체감 고민 🧠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453128" y="1920240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"유튜브에선 무조건 가라는데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35만 원 값어치를 할까?"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453128" y="2743200"/>
            <a:ext cx="3236976" cy="960120"/>
          </a:xfrm>
          <a:prstGeom prst="roundRect">
            <a:avLst>
              <a:gd name="adj" fmla="val 11429"/>
            </a:avLst>
          </a:prstGeom>
          <a:solidFill>
            <a:srgbClr val="080D1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480560" y="2788920"/>
            <a:ext cx="318211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라이젠 7500F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(약 21만 원)   VS   7800X3D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(약 56만 원)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663440" y="3840480"/>
            <a:ext cx="2816352" cy="384048"/>
          </a:xfrm>
          <a:prstGeom prst="roundRect">
            <a:avLst>
              <a:gd name="adj" fmla="val 47619"/>
            </a:avLst>
          </a:prstGeom>
          <a:solidFill>
            <a:srgbClr val="00F3FF">
              <a:alpha val="18000"/>
            </a:srgbClr>
          </a:solidFill>
          <a:ln w="12700">
            <a:solidFill>
              <a:srgbClr val="00F3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63440" y="3840480"/>
            <a:ext cx="28163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F3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💸 가격 2.6배 (+35만 원 차이)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453128" y="4389120"/>
            <a:ext cx="3236976" cy="1463040"/>
          </a:xfrm>
          <a:prstGeom prst="roundRect">
            <a:avLst>
              <a:gd name="adj" fmla="val 7500"/>
            </a:avLst>
          </a:prstGeom>
          <a:solidFill>
            <a:srgbClr val="080D1A"/>
          </a:solidFill>
          <a:ln w="12700">
            <a:solidFill>
              <a:srgbClr val="00F3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0" y="4462272"/>
            <a:ext cx="299923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"35만 원 더 쓰면 내 모니터(QHD)에서 실제 프레임(FPS)이 몇이나 오르길래? 글카에 보태는 게 낫지 않나?"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8046720" y="1417320"/>
            <a:ext cx="3639312" cy="4663440"/>
          </a:xfrm>
          <a:prstGeom prst="roundRect">
            <a:avLst>
              <a:gd name="adj" fmla="val 5025"/>
            </a:avLst>
          </a:prstGeom>
          <a:solidFill>
            <a:srgbClr val="0F1626"/>
          </a:solidFill>
          <a:ln w="12700">
            <a:solidFill>
              <a:srgbClr val="D97B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47888" y="160020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사례 03 · 예산 초과 다이어트 고민 ⚖️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8247888" y="1920240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"예산보다 20만 원 넘었는데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어디를 낮춰야 손해가 적을까?"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247888" y="2743200"/>
            <a:ext cx="3236976" cy="960120"/>
          </a:xfrm>
          <a:prstGeom prst="roundRect">
            <a:avLst>
              <a:gd name="adj" fmla="val 11429"/>
            </a:avLst>
          </a:prstGeom>
          <a:solidFill>
            <a:srgbClr val="080D1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75320" y="2788920"/>
            <a:ext cx="318211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GPU 한 단계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낮추기   VS   CPU·메인보드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낮추기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8458200" y="3840480"/>
            <a:ext cx="2816352" cy="384048"/>
          </a:xfrm>
          <a:prstGeom prst="roundRect">
            <a:avLst>
              <a:gd name="adj" fmla="val 47619"/>
            </a:avLst>
          </a:prstGeom>
          <a:solidFill>
            <a:srgbClr val="D97BFF">
              <a:alpha val="18000"/>
            </a:srgbClr>
          </a:solidFill>
          <a:ln w="12700">
            <a:solidFill>
              <a:srgbClr val="D97B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458200" y="3840480"/>
            <a:ext cx="28163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❓ 프레임 손실 최소 조합은?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247888" y="4389120"/>
            <a:ext cx="3236976" cy="1463040"/>
          </a:xfrm>
          <a:prstGeom prst="roundRect">
            <a:avLst>
              <a:gd name="adj" fmla="val 7500"/>
            </a:avLst>
          </a:prstGeom>
          <a:solidFill>
            <a:srgbClr val="080D1A"/>
          </a:solidFill>
          <a:ln w="12700">
            <a:solidFill>
              <a:srgbClr val="D97B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366760" y="4462272"/>
            <a:ext cx="299923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"20만 원을 아끼고 싶은데, CPU를 낮추는 게 나을지 그래픽카드를 낮추는 게 유리할지 누가 수치로 알려주면 좋겠다!"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09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28600"/>
            <a:ext cx="11274552" cy="27432"/>
          </a:xfrm>
          <a:prstGeom prst="rect">
            <a:avLst/>
          </a:prstGeom>
          <a:solidFill>
            <a:srgbClr val="00F3FF">
              <a:alpha val="30000"/>
            </a:srgbClr>
          </a:solidFill>
          <a:ln w="12700">
            <a:solidFill>
              <a:srgbClr val="00F3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84048"/>
            <a:ext cx="3474720" cy="310896"/>
          </a:xfrm>
          <a:prstGeom prst="roundRect">
            <a:avLst>
              <a:gd name="adj" fmla="val 50000"/>
            </a:avLst>
          </a:prstGeom>
          <a:solidFill>
            <a:srgbClr val="FF5CA8">
              <a:alpha val="15000"/>
            </a:srgbClr>
          </a:solidFill>
          <a:ln w="12700">
            <a:solidFill>
              <a:srgbClr val="FF5C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84048"/>
            <a:ext cx="3474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5C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해결하고자 하는 문제 — UX 병목 해결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74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부품 하나 비교하려고 4군데 사이트를 헤매던 3시간을 단 3초로!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6355080"/>
            <a:ext cx="11274552" cy="1828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64190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PC-FIT 2.0 : AI 부품·가격 비교 &amp; 가성비 어드바이저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9601200" y="6419088"/>
            <a:ext cx="2130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0F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SLIDE 04 / 09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1417320"/>
            <a:ext cx="5440680" cy="4663440"/>
          </a:xfrm>
          <a:prstGeom prst="roundRect">
            <a:avLst>
              <a:gd name="adj" fmla="val 3922"/>
            </a:avLst>
          </a:prstGeom>
          <a:solidFill>
            <a:srgbClr val="0F1626"/>
          </a:solidFill>
          <a:ln w="12700">
            <a:solidFill>
              <a:srgbClr val="FF5CA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164592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5C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 : 기존 구매자의 4단계 검색 지옥 (평균 3시간+ 소요 😫)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31520" y="2148840"/>
            <a:ext cx="2377440" cy="1325880"/>
          </a:xfrm>
          <a:prstGeom prst="roundRect">
            <a:avLst>
              <a:gd name="adj" fmla="val 9655"/>
            </a:avLst>
          </a:prstGeom>
          <a:solidFill>
            <a:srgbClr val="080D1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2240280"/>
            <a:ext cx="21031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📺 1. 유튜브 벤치 검색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"5070 vs 5070 Ti FPS"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20분짜리 해외 영상 일일이 시청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46120" y="2148840"/>
            <a:ext cx="2377440" cy="1325880"/>
          </a:xfrm>
          <a:prstGeom prst="roundRect">
            <a:avLst>
              <a:gd name="adj" fmla="val 9655"/>
            </a:avLst>
          </a:prstGeom>
          <a:solidFill>
            <a:srgbClr val="080D1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83280" y="2240280"/>
            <a:ext cx="21031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💰 2. 쇼핑몰 가격 검색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실구매가 차액 계산기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모델별 가격 편차 직접 대조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3657600"/>
            <a:ext cx="2377440" cy="1325880"/>
          </a:xfrm>
          <a:prstGeom prst="roundRect">
            <a:avLst>
              <a:gd name="adj" fmla="val 9655"/>
            </a:avLst>
          </a:prstGeom>
          <a:solidFill>
            <a:srgbClr val="080D1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3749040"/>
            <a:ext cx="21031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🔌 3. 권장 파워 재확인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"파워 700W로 될까?"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TDP 스펙표 다시 찾아보기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46120" y="3657600"/>
            <a:ext cx="2377440" cy="1325880"/>
          </a:xfrm>
          <a:prstGeom prst="roundRect">
            <a:avLst>
              <a:gd name="adj" fmla="val 9655"/>
            </a:avLst>
          </a:prstGeom>
          <a:solidFill>
            <a:srgbClr val="080D1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83280" y="3749040"/>
            <a:ext cx="21031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❓ 4. 커뮤니티 질문글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"60만 원 더 쓸까요?"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댓글 달릴 때까지 수 시간 대기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31520" y="5257800"/>
            <a:ext cx="4892040" cy="594360"/>
          </a:xfrm>
          <a:prstGeom prst="roundRect">
            <a:avLst>
              <a:gd name="adj" fmla="val 18462"/>
            </a:avLst>
          </a:prstGeom>
          <a:solidFill>
            <a:srgbClr val="FF0080">
              <a:alpha val="15000"/>
            </a:srgbClr>
          </a:solidFill>
          <a:ln w="12700">
            <a:solidFill>
              <a:srgbClr val="FF5CA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5257800"/>
            <a:ext cx="4892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5C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❌ 정보 파편화로 피로감 누적 ➔ 결국 과소비하거나 구매 포기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63640" y="1417320"/>
            <a:ext cx="5440680" cy="4663440"/>
          </a:xfrm>
          <a:prstGeom prst="roundRect">
            <a:avLst>
              <a:gd name="adj" fmla="val 3922"/>
            </a:avLst>
          </a:prstGeom>
          <a:solidFill>
            <a:srgbClr val="0F1626"/>
          </a:solidFill>
          <a:ln w="12700">
            <a:solidFill>
              <a:srgbClr val="00F3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37960" y="164592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F3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 : PC-FIT 2.0 AI 부품 비교 어드바이저 (단 3초 ⚡)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537960" y="2286000"/>
            <a:ext cx="1554480" cy="1783080"/>
          </a:xfrm>
          <a:prstGeom prst="roundRect">
            <a:avLst>
              <a:gd name="adj" fmla="val 8824"/>
            </a:avLst>
          </a:prstGeom>
          <a:solidFill>
            <a:srgbClr val="080D1A"/>
          </a:solidFill>
          <a:ln w="12700">
            <a:solidFill>
              <a:srgbClr val="00F3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11112" y="2377440"/>
            <a:ext cx="1408176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📊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게임 FPS 차트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배그·사펑·3DMark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183880" y="2286000"/>
            <a:ext cx="1554480" cy="1783080"/>
          </a:xfrm>
          <a:prstGeom prst="roundRect">
            <a:avLst>
              <a:gd name="adj" fmla="val 8824"/>
            </a:avLst>
          </a:prstGeom>
          <a:solidFill>
            <a:srgbClr val="080D1A"/>
          </a:solidFill>
          <a:ln w="12700">
            <a:solidFill>
              <a:srgbClr val="FF5CA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57032" y="2377440"/>
            <a:ext cx="1408176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📋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가격·스펙 비교표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차액·VRAM·권장파워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9829800" y="2286000"/>
            <a:ext cx="1554480" cy="1783080"/>
          </a:xfrm>
          <a:prstGeom prst="roundRect">
            <a:avLst>
              <a:gd name="adj" fmla="val 8824"/>
            </a:avLst>
          </a:prstGeom>
          <a:solidFill>
            <a:srgbClr val="080D1A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902952" y="2377440"/>
            <a:ext cx="1408176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가성비 판정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유지 vs 업글 명확 결론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537960" y="4297680"/>
            <a:ext cx="4892040" cy="731520"/>
          </a:xfrm>
          <a:prstGeom prst="roundRect">
            <a:avLst>
              <a:gd name="adj" fmla="val 15000"/>
            </a:avLst>
          </a:prstGeom>
          <a:solidFill>
            <a:srgbClr val="080D1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37960" y="4297680"/>
            <a:ext cx="4892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🛡️ 하단에 실측 데이터 출처(퀘이사존·3DMark·Supabase DB)까지 투명하게 공개!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537960" y="5257800"/>
            <a:ext cx="4892040" cy="594360"/>
          </a:xfrm>
          <a:prstGeom prst="roundRect">
            <a:avLst>
              <a:gd name="adj" fmla="val 18462"/>
            </a:avLst>
          </a:prstGeom>
          <a:solidFill>
            <a:srgbClr val="00E676">
              <a:alpha val="15000"/>
            </a:srgbClr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537960" y="5257800"/>
            <a:ext cx="4892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E6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✅ 외부 사이트 이탈 없이 한 화면에서 비교·검증·최저가 확인까지 완결!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09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28600"/>
            <a:ext cx="11274552" cy="27432"/>
          </a:xfrm>
          <a:prstGeom prst="rect">
            <a:avLst/>
          </a:prstGeom>
          <a:solidFill>
            <a:srgbClr val="00F3FF">
              <a:alpha val="30000"/>
            </a:srgbClr>
          </a:solidFill>
          <a:ln w="12700">
            <a:solidFill>
              <a:srgbClr val="00F3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84048"/>
            <a:ext cx="3474720" cy="310896"/>
          </a:xfrm>
          <a:prstGeom prst="roundRect">
            <a:avLst>
              <a:gd name="adj" fmla="val 50000"/>
            </a:avLst>
          </a:prstGeom>
          <a:solidFill>
            <a:srgbClr val="D97BFF">
              <a:alpha val="15000"/>
            </a:srgbClr>
          </a:solidFill>
          <a:ln w="12700">
            <a:solidFill>
              <a:srgbClr val="D97B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84048"/>
            <a:ext cx="3474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해결을 위해 인공지능을 활용한 방안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74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AI가 거짓 스펙을 말하지 못하도록 3대 실측 DB를 주입(RAG)하여 시각화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6355080"/>
            <a:ext cx="11274552" cy="1828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64190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PC-FIT 2.0 : AI 부품·가격 비교 &amp; 가성비 어드바이저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9601200" y="6419088"/>
            <a:ext cx="2130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0F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SLIDE 05 / 09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1417320"/>
            <a:ext cx="3566160" cy="4663440"/>
          </a:xfrm>
          <a:prstGeom prst="roundRect">
            <a:avLst>
              <a:gd name="adj" fmla="val 5128"/>
            </a:avLst>
          </a:prstGeom>
          <a:solidFill>
            <a:srgbClr val="0F1626"/>
          </a:solidFill>
          <a:ln w="12700">
            <a:solidFill>
              <a:srgbClr val="00F3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160020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F3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01 · 실측 데이터 자동 주입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F3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AI에게 전달되는 3대 팩트 데이터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2423160"/>
            <a:ext cx="3108960" cy="960120"/>
          </a:xfrm>
          <a:prstGeom prst="roundRect">
            <a:avLst>
              <a:gd name="adj" fmla="val 11429"/>
            </a:avLst>
          </a:prstGeom>
          <a:solidFill>
            <a:srgbClr val="080D1A"/>
          </a:solidFill>
          <a:ln w="12700">
            <a:solidFill>
              <a:srgbClr val="00F3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4672" y="2496312"/>
            <a:ext cx="287121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🖥️ ① 현재 내 견적 &amp; 대안 컨텍스트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예산, 용도, 상·하위 대안 모델 자동 추출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85800" y="3566160"/>
            <a:ext cx="3108960" cy="960120"/>
          </a:xfrm>
          <a:prstGeom prst="roundRect">
            <a:avLst>
              <a:gd name="adj" fmla="val 11429"/>
            </a:avLst>
          </a:prstGeom>
          <a:solidFill>
            <a:srgbClr val="080D1A"/>
          </a:solidFill>
          <a:ln w="12700">
            <a:solidFill>
              <a:srgbClr val="00F3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4672" y="3639312"/>
            <a:ext cx="287121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🗄️ ② Supabase 부품 DB (945종)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DB 기준가, VRAM, 클럭, 소켓, 정격 파워 조회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85800" y="4709160"/>
            <a:ext cx="3108960" cy="960120"/>
          </a:xfrm>
          <a:prstGeom prst="roundRect">
            <a:avLst>
              <a:gd name="adj" fmla="val 11429"/>
            </a:avLst>
          </a:prstGeom>
          <a:solidFill>
            <a:srgbClr val="080D1A"/>
          </a:solidFill>
          <a:ln w="12700">
            <a:solidFill>
              <a:srgbClr val="00F3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4672" y="4782312"/>
            <a:ext cx="287121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🏆 ③ 공인 벤치마크 레퍼런스 DB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3DMark Time Spy · 퀘이사존 QHD FPS · Cinebench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069080" y="3474720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F3FF"/>
                </a:solidFill>
              </a:rPr>
              <a:t>➔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4526280" y="1417320"/>
            <a:ext cx="3108960" cy="4663440"/>
          </a:xfrm>
          <a:prstGeom prst="roundRect">
            <a:avLst>
              <a:gd name="adj" fmla="val 5882"/>
            </a:avLst>
          </a:prstGeom>
          <a:solidFill>
            <a:srgbClr val="0F1626"/>
          </a:solidFill>
          <a:ln w="12700">
            <a:solidFill>
              <a:srgbClr val="D97B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09160" y="160020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02 · AI 연산 엔진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D9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멀티 AI 분석 &amp; JSON 강제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709160" y="2377440"/>
            <a:ext cx="27432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🧠</a:t>
            </a:r>
            <a:endParaRPr lang="en-US" sz="1200" dirty="0"/>
          </a:p>
          <a:p>
            <a:pPr algn="ctr" indent="0" marL="0">
              <a:buNone/>
            </a:pP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주입된 실측 수치만을 근거로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추가 금액 대비 프레임 상승률(%)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및 가성비 결론을 계산합니다.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754880" y="4251960"/>
            <a:ext cx="2651760" cy="1508760"/>
          </a:xfrm>
          <a:prstGeom prst="roundRect">
            <a:avLst>
              <a:gd name="adj" fmla="val 8485"/>
            </a:avLst>
          </a:prstGeom>
          <a:solidFill>
            <a:srgbClr val="080D1A"/>
          </a:solidFill>
          <a:ln w="12700">
            <a:solidFill>
              <a:srgbClr val="D97B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0" y="4343400"/>
            <a:ext cx="24688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멀티 AI 폴백 체인 (무중단)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Gemini 2.5/3.5 Flash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▼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GPT-5.1 / Claude Sonnet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680960" y="3474720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5CA8"/>
                </a:solidFill>
              </a:rPr>
              <a:t>➔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8138160" y="1417320"/>
            <a:ext cx="3566160" cy="4663440"/>
          </a:xfrm>
          <a:prstGeom prst="roundRect">
            <a:avLst>
              <a:gd name="adj" fmla="val 5128"/>
            </a:avLst>
          </a:prstGeom>
          <a:solidFill>
            <a:srgbClr val="0F1626"/>
          </a:solidFill>
          <a:ln w="12700">
            <a:solidFill>
              <a:srgbClr val="FF5CA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66760" y="160020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5C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03 · 3단 인포그래픽 출력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F5C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줄글 대신 직관적 차트·표 렌더링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8366760" y="2423160"/>
            <a:ext cx="3108960" cy="960120"/>
          </a:xfrm>
          <a:prstGeom prst="roundRect">
            <a:avLst>
              <a:gd name="adj" fmla="val 11429"/>
            </a:avLst>
          </a:prstGeom>
          <a:solidFill>
            <a:srgbClr val="080D1A"/>
          </a:solidFill>
          <a:ln w="12700">
            <a:solidFill>
              <a:srgbClr val="00F3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85632" y="2496312"/>
            <a:ext cx="287121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Tier 1 · 한 줄 가성비 결론 배지 (verdict)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"💡 QHD 게이밍 기준 RTX 5070 유지 추천!"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366760" y="3566160"/>
            <a:ext cx="3108960" cy="960120"/>
          </a:xfrm>
          <a:prstGeom prst="roundRect">
            <a:avLst>
              <a:gd name="adj" fmla="val 11429"/>
            </a:avLst>
          </a:prstGeom>
          <a:solidFill>
            <a:srgbClr val="080D1A"/>
          </a:solidFill>
          <a:ln w="12700">
            <a:solidFill>
              <a:srgbClr val="FF5CA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85632" y="3639312"/>
            <a:ext cx="287121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Tier 2 · 가로 막대차트 &amp; 스펙 비교표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게임별 FPS 그래프(chartData) + 비교표(tableData)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366760" y="4709160"/>
            <a:ext cx="3108960" cy="960120"/>
          </a:xfrm>
          <a:prstGeom prst="roundRect">
            <a:avLst>
              <a:gd name="adj" fmla="val 11429"/>
            </a:avLst>
          </a:prstGeom>
          <a:solidFill>
            <a:srgbClr val="080D1A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485632" y="4782312"/>
            <a:ext cx="287121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Tier 3 · 데이터 출처 &amp; DB 매칭 검증 배지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"Supabase DB 실측 스펙 대조됨" + 퀘이사존/3DMark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609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28600"/>
            <a:ext cx="11274552" cy="27432"/>
          </a:xfrm>
          <a:prstGeom prst="rect">
            <a:avLst/>
          </a:prstGeom>
          <a:solidFill>
            <a:srgbClr val="00F3FF">
              <a:alpha val="30000"/>
            </a:srgbClr>
          </a:solidFill>
          <a:ln w="12700">
            <a:solidFill>
              <a:srgbClr val="00F3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84048"/>
            <a:ext cx="3474720" cy="310896"/>
          </a:xfrm>
          <a:prstGeom prst="roundRect">
            <a:avLst>
              <a:gd name="adj" fmla="val 50000"/>
            </a:avLst>
          </a:prstGeom>
          <a:solidFill>
            <a:srgbClr val="00F3FF">
              <a:alpha val="15000"/>
            </a:srgbClr>
          </a:solidFill>
          <a:ln w="12700">
            <a:solidFill>
              <a:srgbClr val="00F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84048"/>
            <a:ext cx="3474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F3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 서비스 기획서 — 실제 구현된 4대 핵심 기능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74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사용자가 최종 견적 페이지에서 경험하는 4가지 핵심 기능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6355080"/>
            <a:ext cx="11274552" cy="1828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64190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PC-FIT 2.0 : AI 부품·가격 비교 &amp; 가성비 어드바이저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9601200" y="6419088"/>
            <a:ext cx="2130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0F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SLIDE 06 / 09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1417320"/>
            <a:ext cx="2697480" cy="4663440"/>
          </a:xfrm>
          <a:prstGeom prst="roundRect">
            <a:avLst>
              <a:gd name="adj" fmla="val 6780"/>
            </a:avLst>
          </a:prstGeom>
          <a:solidFill>
            <a:srgbClr val="0F1626"/>
          </a:solidFill>
          <a:ln w="12700">
            <a:solidFill>
              <a:srgbClr val="00F3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1645920"/>
            <a:ext cx="2423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⚡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FEATURE 01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맞춤형 빠른 질문 칩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0080" y="3108960"/>
            <a:ext cx="23317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견적의 GPU·CPU 대안 부품과 예산 초과분을 계산해 가장 고민할 비교 질문 버튼 3개 자동 생성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5074920"/>
            <a:ext cx="2331720" cy="685800"/>
          </a:xfrm>
          <a:prstGeom prst="roundRect">
            <a:avLst>
              <a:gd name="adj" fmla="val 16000"/>
            </a:avLst>
          </a:prstGeom>
          <a:solidFill>
            <a:srgbClr val="080D1A"/>
          </a:solidFill>
          <a:ln w="12700">
            <a:solidFill>
              <a:srgbClr val="00F3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5074920"/>
            <a:ext cx="2331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F3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타자 입력 없이 원클릭 비교!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310128" y="1417320"/>
            <a:ext cx="2697480" cy="4663440"/>
          </a:xfrm>
          <a:prstGeom prst="roundRect">
            <a:avLst>
              <a:gd name="adj" fmla="val 6780"/>
            </a:avLst>
          </a:prstGeom>
          <a:solidFill>
            <a:srgbClr val="0F1626"/>
          </a:solidFill>
          <a:ln w="12700">
            <a:solidFill>
              <a:srgbClr val="FF5C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47288" y="1645920"/>
            <a:ext cx="2423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📊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FEATURE 02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FPS 차트 &amp; 스펙 비교표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493008" y="3108960"/>
            <a:ext cx="23317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부품의 게임 평균 FPS·3DMark 점수 막대그래프와 실구매가 차이·VRAM·권장파워 비교표 동시 출력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493008" y="5074920"/>
            <a:ext cx="2331720" cy="685800"/>
          </a:xfrm>
          <a:prstGeom prst="roundRect">
            <a:avLst>
              <a:gd name="adj" fmla="val 16000"/>
            </a:avLst>
          </a:prstGeom>
          <a:solidFill>
            <a:srgbClr val="080D1A"/>
          </a:solidFill>
          <a:ln w="12700">
            <a:solidFill>
              <a:srgbClr val="FF5CA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93008" y="5074920"/>
            <a:ext cx="2331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5C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가격 vs 성능을 한눈에 비교!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63056" y="1417320"/>
            <a:ext cx="2697480" cy="4663440"/>
          </a:xfrm>
          <a:prstGeom prst="roundRect">
            <a:avLst>
              <a:gd name="adj" fmla="val 6780"/>
            </a:avLst>
          </a:prstGeom>
          <a:solidFill>
            <a:srgbClr val="0F1626"/>
          </a:solidFill>
          <a:ln w="12700">
            <a:solidFill>
              <a:srgbClr val="D97B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00216" y="1645920"/>
            <a:ext cx="2423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🛡️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FEATURE 03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실측 데이터 출처 배지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345936" y="3108960"/>
            <a:ext cx="23317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 결과 하단에 Supabase DB 실측 스펙 대조 건수와 퀘이사존·3DMark·TechPowerUp 출처 명시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345936" y="5074920"/>
            <a:ext cx="2331720" cy="685800"/>
          </a:xfrm>
          <a:prstGeom prst="roundRect">
            <a:avLst>
              <a:gd name="adj" fmla="val 16000"/>
            </a:avLst>
          </a:prstGeom>
          <a:solidFill>
            <a:srgbClr val="080D1A"/>
          </a:solidFill>
          <a:ln w="12700">
            <a:solidFill>
              <a:srgbClr val="D97B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45936" y="5074920"/>
            <a:ext cx="2331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하드코딩·거짓말 없는 신뢰도!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015984" y="1417320"/>
            <a:ext cx="2697480" cy="4663440"/>
          </a:xfrm>
          <a:prstGeom prst="roundRect">
            <a:avLst>
              <a:gd name="adj" fmla="val 6780"/>
            </a:avLst>
          </a:prstGeom>
          <a:solidFill>
            <a:srgbClr val="0F1626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53144" y="1645920"/>
            <a:ext cx="2423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🛒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FEATURE 04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네이버 쇼핑 최저가 연동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198864" y="3108960"/>
            <a:ext cx="23317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후 결정한 부품을 [네이버 쇼핑 구매] 버튼으로 즉시 최저가 검색 및 실물 이미지 확인 가능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9198864" y="5074920"/>
            <a:ext cx="2331720" cy="685800"/>
          </a:xfrm>
          <a:prstGeom prst="roundRect">
            <a:avLst>
              <a:gd name="adj" fmla="val 16000"/>
            </a:avLst>
          </a:prstGeom>
          <a:solidFill>
            <a:srgbClr val="080D1A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98864" y="5074920"/>
            <a:ext cx="2331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E6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직후 최저가 구매 연결!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609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28600"/>
            <a:ext cx="11274552" cy="27432"/>
          </a:xfrm>
          <a:prstGeom prst="rect">
            <a:avLst/>
          </a:prstGeom>
          <a:solidFill>
            <a:srgbClr val="00F3FF">
              <a:alpha val="30000"/>
            </a:srgbClr>
          </a:solidFill>
          <a:ln w="12700">
            <a:solidFill>
              <a:srgbClr val="00F3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84048"/>
            <a:ext cx="3474720" cy="310896"/>
          </a:xfrm>
          <a:prstGeom prst="roundRect">
            <a:avLst>
              <a:gd name="adj" fmla="val 50000"/>
            </a:avLst>
          </a:prstGeom>
          <a:solidFill>
            <a:srgbClr val="00F3FF">
              <a:alpha val="15000"/>
            </a:srgbClr>
          </a:solidFill>
          <a:ln w="12700">
            <a:solidFill>
              <a:srgbClr val="00F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84048"/>
            <a:ext cx="3474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F3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 서비스 기획서 — 실제 구현 화면 (PartAdvisorCard.vue)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74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친구의 고민(RTX 5070 vs RTX 5070 Ti)을 실제 사이트에서 분석한 화면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6355080"/>
            <a:ext cx="11274552" cy="1828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64190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PC-FIT 2.0 : AI 부품·가격 비교 &amp; 가성비 어드바이저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9601200" y="6419088"/>
            <a:ext cx="2130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0F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SLIDE 07 / 09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1371600"/>
            <a:ext cx="11274552" cy="4800600"/>
          </a:xfrm>
          <a:prstGeom prst="roundRect">
            <a:avLst>
              <a:gd name="adj" fmla="val 3810"/>
            </a:avLst>
          </a:prstGeom>
          <a:solidFill>
            <a:srgbClr val="070B16"/>
          </a:solidFill>
          <a:ln w="12700">
            <a:solidFill>
              <a:srgbClr val="00F3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600200"/>
            <a:ext cx="10725912" cy="594360"/>
          </a:xfrm>
          <a:prstGeom prst="roundRect">
            <a:avLst>
              <a:gd name="adj" fmla="val 18462"/>
            </a:avLst>
          </a:prstGeom>
          <a:solidFill>
            <a:srgbClr val="00F3FF">
              <a:alpha val="14000"/>
            </a:srgbClr>
          </a:solidFill>
          <a:ln w="12700">
            <a:solidFill>
              <a:srgbClr val="00F3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600200"/>
            <a:ext cx="10424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 AI 최종 결론 (verdict): QHD 게이밍 기준 평균 프레임 격차는 약 18%이나 가격 차이는 37~60만 원에 달하므로 RTX 5070 유지 추천!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31520" y="2331720"/>
            <a:ext cx="5212080" cy="3108960"/>
          </a:xfrm>
          <a:prstGeom prst="roundRect">
            <a:avLst>
              <a:gd name="adj" fmla="val 4118"/>
            </a:avLst>
          </a:prstGeom>
          <a:solidFill>
            <a:srgbClr val="080D1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246888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F3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📊 게임 프레임 &amp; 벤치마크 비교 (chartData)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14400" y="2880360"/>
            <a:ext cx="48463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배틀그라운드 (QHD 울트라) — +17% 차이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RTX 5070 : ████████████████ 232 FPS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5070 Ti    : ███████████████████ 272 FPS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사이버펑크 2077 (QHD 높음) — +23% 차이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RTX 5070 : ██████████████ 94 FPS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5070 Ti    : █████████████████ 116 FPS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126480" y="2331720"/>
            <a:ext cx="5330952" cy="3108960"/>
          </a:xfrm>
          <a:prstGeom prst="roundRect">
            <a:avLst>
              <a:gd name="adj" fmla="val 4118"/>
            </a:avLst>
          </a:prstGeom>
          <a:solidFill>
            <a:srgbClr val="080D1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09360" y="246888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5C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📋 핵심 스펙 &amp; 가성비 비교표 (tableData)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2880360"/>
          <a:ext cx="4965192" cy="2286000"/>
        </p:xfrm>
        <a:graphic>
          <a:graphicData uri="http://schemas.openxmlformats.org/drawingml/2006/table">
            <a:tbl>
              <a:tblPr/>
              <a:tblGrid>
                <a:gridCol w="1655064"/>
                <a:gridCol w="1655064"/>
                <a:gridCol w="1655064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비교 항목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F3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RTX 5070 (현재)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5CA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RTX 5070 Ti (비교)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실구매가 및 차액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0D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기준가 (절약)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0D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+37~60만 원 추가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0D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3DMark Time Spy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0D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22,900점 (100%)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0D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27,800점 (+21%)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0D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VRAM / 소비전력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0D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GDDR7 12GB / 250W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0D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GDDR7 16GB / 300W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0D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추천 선택 기준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0D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FHD·QHD 가성비 게이밍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0D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4K 고해상도·16GB 필요 시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0D1A"/>
                    </a:solidFill>
                  </a:tcPr>
                </a:tc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731520" y="5577840"/>
            <a:ext cx="10725912" cy="411480"/>
          </a:xfrm>
          <a:prstGeom prst="roundRect">
            <a:avLst>
              <a:gd name="adj" fmla="val 17778"/>
            </a:avLst>
          </a:prstGeom>
          <a:solidFill>
            <a:srgbClr val="00E676">
              <a:alpha val="12000"/>
            </a:srgbClr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68680" y="5577840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E6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🛡️ 분석 데이터 출처 (Verified Sources): UL 3DMark Time Spy · 퀘이사존 QHD 실측 벤치마크 | [Supabase DB 실측 스펙 2건 직접 대조됨]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609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28600"/>
            <a:ext cx="11274552" cy="27432"/>
          </a:xfrm>
          <a:prstGeom prst="rect">
            <a:avLst/>
          </a:prstGeom>
          <a:solidFill>
            <a:srgbClr val="00F3FF">
              <a:alpha val="30000"/>
            </a:srgbClr>
          </a:solidFill>
          <a:ln w="12700">
            <a:solidFill>
              <a:srgbClr val="00F3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84048"/>
            <a:ext cx="3474720" cy="310896"/>
          </a:xfrm>
          <a:prstGeom prst="roundRect">
            <a:avLst>
              <a:gd name="adj" fmla="val 50000"/>
            </a:avLst>
          </a:prstGeom>
          <a:solidFill>
            <a:srgbClr val="00F3FF">
              <a:alpha val="15000"/>
            </a:srgbClr>
          </a:solidFill>
          <a:ln w="12700">
            <a:solidFill>
              <a:srgbClr val="00F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84048"/>
            <a:ext cx="3474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F3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 동작하는 코드 (Working Code)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74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프로젝트에 실제 구현된 advisorController.js &amp; PartAdvisorCard.vue 코드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6355080"/>
            <a:ext cx="11274552" cy="1828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64190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PC-FIT 2.0 : AI 부품·가격 비교 &amp; 가성비 어드바이저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9601200" y="6419088"/>
            <a:ext cx="2130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0F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SLIDE 08 / 09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1417320"/>
            <a:ext cx="5440680" cy="3749040"/>
          </a:xfrm>
          <a:prstGeom prst="roundRect">
            <a:avLst>
              <a:gd name="adj" fmla="val 3902"/>
            </a:avLst>
          </a:prstGeom>
          <a:solidFill>
            <a:srgbClr val="050811"/>
          </a:solidFill>
          <a:ln w="12700">
            <a:solidFill>
              <a:srgbClr val="00F3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55448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F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📁 back/src/controllers/advisorController.js (Backend)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1920240"/>
            <a:ext cx="50749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POST /api/recommend/compare-advisor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exports.compareAdvisor = async (req, res) =&gt; {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{ question, currentBuild, totalPrice, budget, usage } = req.body;</a:t>
            </a:r>
            <a:endParaRPr lang="en-US" sz="980" dirty="0"/>
          </a:p>
          <a:p>
            <a:pPr indent="0" marL="0">
              <a:buNone/>
            </a:pP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1. Supabase parts DB 조회 + 공인 벤치마크(3DMark·퀘이사존) 매칭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[dbParts, benchRef] = await Promise.all([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queryDbPartsForComparison(currentBuild, question),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Promise.resolve(matchBenchmarksForContext(currentBuild, question))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]);</a:t>
            </a:r>
            <a:endParaRPr lang="en-US" sz="980" dirty="0"/>
          </a:p>
          <a:p>
            <a:pPr indent="0" marL="0">
              <a:buNone/>
            </a:pP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2. 컨텍스트 주입 후 AI 호출 &amp; 정형 JSON 정규화 반환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buildContext = formatBuildContext(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currentBuild, totalPrice, budget, usage, '', dbParts, benchRef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);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normalizedData = normalizeAdvisorResponse(parsedResult, currentBuild);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res.json({ success: true, data: normalizedData });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};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457200" y="5303520"/>
            <a:ext cx="5440680" cy="822960"/>
          </a:xfrm>
          <a:prstGeom prst="roundRect">
            <a:avLst>
              <a:gd name="adj" fmla="val 13333"/>
            </a:avLst>
          </a:prstGeom>
          <a:solidFill>
            <a:srgbClr val="00F3FF">
              <a:alpha val="12000"/>
            </a:srgbClr>
          </a:solidFill>
          <a:ln w="12700">
            <a:solidFill>
              <a:srgbClr val="00F3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5349240"/>
            <a:ext cx="5166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 백엔드 핵심: queryDbPartsForComparison으로 Supabase 부품 DB를 조회하고 matchBenchmarksForContext로 3DMark·퀘이사존 FPS를 결합해 전달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63640" y="1417320"/>
            <a:ext cx="5440680" cy="3749040"/>
          </a:xfrm>
          <a:prstGeom prst="roundRect">
            <a:avLst>
              <a:gd name="adj" fmla="val 3902"/>
            </a:avLst>
          </a:prstGeom>
          <a:solidFill>
            <a:srgbClr val="050811"/>
          </a:solidFill>
          <a:ln w="12700">
            <a:solidFill>
              <a:srgbClr val="FF5C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46520" y="155448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5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📁 front/src/components/domain/PartAdvisorCard.vue (Frontend)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46520" y="1920240"/>
            <a:ext cx="50749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빠른 질문 칩 클릭 또는 직접 질문 시 백엔드 API 호출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submitQuestion(customQuery) {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q = (customQuery || this.questionInput || '').trim();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res = await api.post('recommend/compare-advisor', {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question: q,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currentBuild: this.parts, // 현재 견적 부품 8종 전달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totalPrice: this.totalPrice,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budget: this.budget,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usage: this.usage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});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this.result = res.data.data; // chartData·tableData·sources 바인딩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},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두 부품의 수치 비율로 가로 막대그래프 너비(%) 계산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getBarWidth(valA, valB, targetVal) {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max = Math.max(Number(valA) || 0, Number(valB) || 0, 1);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Math.min(Math.max(Math.round((targetVal / max) * 100), 12), 100);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6263640" y="5303520"/>
            <a:ext cx="5440680" cy="822960"/>
          </a:xfrm>
          <a:prstGeom prst="roundRect">
            <a:avLst>
              <a:gd name="adj" fmla="val 13333"/>
            </a:avLst>
          </a:prstGeom>
          <a:solidFill>
            <a:srgbClr val="FF0080">
              <a:alpha val="12000"/>
            </a:srgbClr>
          </a:solidFill>
          <a:ln w="12700">
            <a:solidFill>
              <a:srgbClr val="FF5CA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0" y="5349240"/>
            <a:ext cx="5166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 프론트엔드 핵심: recommend/compare-advisor API 응답을 받아 getBarWidth()로 두 부품의 상대 성능 막대그래프 길이를 실시간 렌더링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609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28600"/>
            <a:ext cx="11274552" cy="27432"/>
          </a:xfrm>
          <a:prstGeom prst="rect">
            <a:avLst/>
          </a:prstGeom>
          <a:solidFill>
            <a:srgbClr val="00F3FF">
              <a:alpha val="30000"/>
            </a:srgbClr>
          </a:solidFill>
          <a:ln w="12700">
            <a:solidFill>
              <a:srgbClr val="00F3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84048"/>
            <a:ext cx="3474720" cy="310896"/>
          </a:xfrm>
          <a:prstGeom prst="roundRect">
            <a:avLst>
              <a:gd name="adj" fmla="val 50000"/>
            </a:avLst>
          </a:prstGeom>
          <a:solidFill>
            <a:srgbClr val="00E676">
              <a:alpha val="15000"/>
            </a:srgbClr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84048"/>
            <a:ext cx="3474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E6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CONCLUSION &amp; FUTURE ROADMAP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74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2학기 핵심 성과 요약 및 아쉬운 점 · 향후 개선 방향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6355080"/>
            <a:ext cx="11274552" cy="1828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64190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PC-FIT 2.0 : AI 부품·가격 비교 &amp; 가성비 어드바이저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9601200" y="6419088"/>
            <a:ext cx="2130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0F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SLIDE 09 / 09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1371600"/>
            <a:ext cx="3639312" cy="1325880"/>
          </a:xfrm>
          <a:prstGeom prst="roundRect">
            <a:avLst>
              <a:gd name="adj" fmla="val 11034"/>
            </a:avLst>
          </a:prstGeom>
          <a:solidFill>
            <a:srgbClr val="0F1626"/>
          </a:solidFill>
          <a:ln w="12700">
            <a:solidFill>
              <a:srgbClr val="00F3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463040"/>
            <a:ext cx="36393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부품 비교·검증 소요 시간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57200" y="1737360"/>
            <a:ext cx="36393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F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3시간 ➔ 3초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57200" y="2286000"/>
            <a:ext cx="36393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유튜브·다나와 다중 검색 제거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251960" y="1371600"/>
            <a:ext cx="3639312" cy="1325880"/>
          </a:xfrm>
          <a:prstGeom prst="roundRect">
            <a:avLst>
              <a:gd name="adj" fmla="val 11034"/>
            </a:avLst>
          </a:prstGeom>
          <a:solidFill>
            <a:srgbClr val="0F1626"/>
          </a:solidFill>
          <a:ln w="12700">
            <a:solidFill>
              <a:srgbClr val="FF5CA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51960" y="1463040"/>
            <a:ext cx="36393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불필요한 과소비 방어 효과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251960" y="1737360"/>
            <a:ext cx="36393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5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30~60만 원 절감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4251960" y="2286000"/>
            <a:ext cx="36393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모니터·게임 맞춤 등급 선택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46720" y="1371600"/>
            <a:ext cx="3639312" cy="1325880"/>
          </a:xfrm>
          <a:prstGeom prst="roundRect">
            <a:avLst>
              <a:gd name="adj" fmla="val 11034"/>
            </a:avLst>
          </a:prstGeom>
          <a:solidFill>
            <a:srgbClr val="0F1626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46720" y="1463040"/>
            <a:ext cx="36393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신뢰도 &amp; 출처 검증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046720" y="1737360"/>
            <a:ext cx="36393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E6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945종 DB + 실측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8046720" y="2286000"/>
            <a:ext cx="36393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Supabase DB + 3DMark·퀘이사존 결합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2880360"/>
            <a:ext cx="5440680" cy="3291840"/>
          </a:xfrm>
          <a:prstGeom prst="roundRect">
            <a:avLst>
              <a:gd name="adj" fmla="val 5000"/>
            </a:avLst>
          </a:prstGeom>
          <a:solidFill>
            <a:srgbClr val="0F1626"/>
          </a:solidFill>
          <a:ln w="12700">
            <a:solidFill>
              <a:srgbClr val="FF5CA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306324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5C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⚠️ 개발하며 느낀 아쉬운 점 (한계점)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31520" y="3474720"/>
            <a:ext cx="4892040" cy="2514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📉 1. 실시간 특가·재고 변동의 완벽한 자동 동기화 한계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네이버 쇼핑 최저가 검색 링크는 연동했지만, 컴퓨존·다나와 등 현금몰의 실시간 품절 상태나 일일 특가 변동을 DB 가격에 100% 자동 반영하지 못한 점이 아쉬움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🎮 2. 벤치마크 비교 기준이 메이저 인기 게임 위주로 한정됨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배그·사이버펑크·몬헌와일즈 등 대표 게임 평균 FPS는 정확하지만, 최신 스팀 인디 게임이나 특수 전문 작업의 세밀한 실측 표본이 아직 부족함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263640" y="2880360"/>
            <a:ext cx="5440680" cy="3291840"/>
          </a:xfrm>
          <a:prstGeom prst="roundRect">
            <a:avLst>
              <a:gd name="adj" fmla="val 5000"/>
            </a:avLst>
          </a:prstGeom>
          <a:solidFill>
            <a:srgbClr val="0F1626"/>
          </a:solidFill>
          <a:ln w="12700">
            <a:solidFill>
              <a:srgbClr val="00F3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37960" y="306324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F3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🚀 향후 고도화 및 개선 방향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537960" y="3474720"/>
            <a:ext cx="4892040" cy="2514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🔔 1. 부품 시세 변동 그래프 &amp; '매수 타이밍' AI 알림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최근 3개월 부품 가격 추이를 차트로 보여주고, "지금이 역대 최저가 근처입니다 vs 신제품 출시 전이니 2주 대기하세요"를 알려주는 기능 추가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🤝 2. 실사용자 벤치마크(3DMark) 후기 데이터 누적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견적을 맞춘 실제 유저들이 자신의 실측 프레임과 타스(TimeSpy) 점수를 인증·공유하여 AI 비교 DB가 스스로 정교해지는 선순환 구조 구축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소프트웨어공학 2학기 프로젝트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PC-FIT 2.0 발표자료</dc:title>
  <dc:subject>PC-FIT 2.0 AI 부품·가격 비교 어드바이저</dc:subject>
  <dc:creator>PC-FIT Team</dc:creator>
  <cp:lastModifiedBy>PC-FIT Team</cp:lastModifiedBy>
  <cp:revision>1</cp:revision>
  <dcterms:created xsi:type="dcterms:W3CDTF">2026-10-21T07:43:06Z</dcterms:created>
  <dcterms:modified xsi:type="dcterms:W3CDTF">2026-10-21T07:43:06Z</dcterms:modified>
</cp:coreProperties>
</file>