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pc-fit-tjandud.vercel.app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pc-fit-tjandud.vercel.app/" TargetMode="External"/><Relationship Id="rId2" Type="http://schemas.openxmlformats.org/officeDocument/2006/relationships/hyperlink" Target="https://pc-fit-tjandud.vercel.app/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9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1274552" cy="36576"/>
          </a:xfrm>
          <a:prstGeom prst="rect">
            <a:avLst/>
          </a:prstGeom>
          <a:solidFill>
            <a:srgbClr val="00F3FF">
              <a:alpha val="40000"/>
            </a:srgbClr>
          </a:solidFill>
          <a:ln w="12700">
            <a:solidFill>
              <a:srgbClr val="00F3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84048"/>
            <a:ext cx="3840480" cy="329184"/>
          </a:xfrm>
          <a:prstGeom prst="roundRect">
            <a:avLst>
              <a:gd name="adj" fmla="val 50000"/>
            </a:avLst>
          </a:prstGeom>
          <a:solidFill>
            <a:srgbClr val="00F3FF">
              <a:alpha val="15000"/>
            </a:srgbClr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84048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F3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소프트웨어공학 2학기 프로젝트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6355080"/>
            <a:ext cx="11274552" cy="182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PC-FIT 2.0 : AI 부품·가격 비교 및 가성비 어드바이저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601200" y="6419088"/>
            <a:ext cx="2130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F3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SLIDE 01 / 09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109728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3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PC-FIT 2.0 : AI DECISION ADVISOR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508760"/>
            <a:ext cx="5852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견적 후의 고민을 끝내는
</a:t>
            </a:r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00F3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부품·가격 비교
</a:t>
            </a:r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5C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가성비 어드바이저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02920" y="3703320"/>
            <a:ext cx="5852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"돈 더 주고 상위 부품을 살 가치가 있을까?"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견적 부품 데이터와 벤치마크 기준표(3DMark·퀘이사존 FPS)를 바탕으로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가격 차이 대비 실제 게임 프레임 상승폭을 표와 그래프로 보여줍니다.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5029200"/>
            <a:ext cx="1965960" cy="384048"/>
          </a:xfrm>
          <a:prstGeom prst="roundRect">
            <a:avLst>
              <a:gd name="adj" fmla="val 47619"/>
            </a:avLst>
          </a:prstGeom>
          <a:solidFill>
            <a:srgbClr val="00F3FF">
              <a:alpha val="15000"/>
            </a:srgbClr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502920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F3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해결하고자 하는 문제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06040" y="5029200"/>
            <a:ext cx="1965960" cy="384048"/>
          </a:xfrm>
          <a:prstGeom prst="roundRect">
            <a:avLst>
              <a:gd name="adj" fmla="val 47619"/>
            </a:avLst>
          </a:prstGeom>
          <a:solidFill>
            <a:srgbClr val="D97BFF">
              <a:alpha val="15000"/>
            </a:srgbClr>
          </a:solidFill>
          <a:ln w="12700">
            <a:solidFill>
              <a:srgbClr val="D97B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06040" y="502920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B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AI 활용 해결 방안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17720" y="5029200"/>
            <a:ext cx="1965960" cy="384048"/>
          </a:xfrm>
          <a:prstGeom prst="roundRect">
            <a:avLst>
              <a:gd name="adj" fmla="val 47619"/>
            </a:avLst>
          </a:prstGeom>
          <a:solidFill>
            <a:srgbClr val="FF5CA8">
              <a:alpha val="15000"/>
            </a:srgbClr>
          </a:solidFill>
          <a:ln w="12700">
            <a:solidFill>
              <a:srgbClr val="FF5C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502920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5C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기획서 및 동작 코드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675120" y="1051560"/>
            <a:ext cx="5029200" cy="4846320"/>
          </a:xfrm>
          <a:prstGeom prst="roundRect">
            <a:avLst>
              <a:gd name="adj" fmla="val 3774"/>
            </a:avLst>
          </a:prstGeom>
          <a:solidFill>
            <a:srgbClr val="0F1626"/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0" y="126187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3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[AI 부품 비교 &amp; 가성비 어드바이저 미리보기]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949440" y="1719072"/>
            <a:ext cx="4480560" cy="1143000"/>
          </a:xfrm>
          <a:prstGeom prst="roundRect">
            <a:avLst>
              <a:gd name="adj" fmla="val 12000"/>
            </a:avLst>
          </a:prstGeom>
          <a:solidFill>
            <a:srgbClr val="080D1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22592" y="1783080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F3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견적 부품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0F3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RTX 5070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0F3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(TimeSpy 22,900점)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961120" y="2066544"/>
            <a:ext cx="457200" cy="457200"/>
          </a:xfrm>
          <a:prstGeom prst="ellipse">
            <a:avLst/>
          </a:prstGeom>
          <a:solidFill>
            <a:srgbClr val="FF0080">
              <a:alpha val="25000"/>
            </a:srgbClr>
          </a:solidFill>
          <a:ln w="12700">
            <a:solidFill>
              <a:srgbClr val="FF5C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61120" y="20665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5C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464040" y="1783080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5C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고민 중인 상위 모델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5C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RTX 5070 Ti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5C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(TimeSpy 27,800점)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949440" y="309067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가격 차이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001000" y="3127248"/>
            <a:ext cx="3383280" cy="256032"/>
          </a:xfrm>
          <a:prstGeom prst="roundRect">
            <a:avLst>
              <a:gd name="adj" fmla="val 50000"/>
            </a:avLst>
          </a:prstGeom>
          <a:solidFill>
            <a:srgbClr val="080D1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01000" y="3127248"/>
            <a:ext cx="3108960" cy="256032"/>
          </a:xfrm>
          <a:prstGeom prst="roundRect">
            <a:avLst>
              <a:gd name="adj" fmla="val 50000"/>
            </a:avLst>
          </a:prstGeom>
          <a:solidFill>
            <a:srgbClr val="FF0080"/>
          </a:solidFill>
          <a:ln w="12700">
            <a:solidFill>
              <a:srgbClr val="FF00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92440" y="312724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40~60만 원 추가 지출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949440" y="359359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QHD 배그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01000" y="3630168"/>
            <a:ext cx="3383280" cy="256032"/>
          </a:xfrm>
          <a:prstGeom prst="roundRect">
            <a:avLst>
              <a:gd name="adj" fmla="val 50000"/>
            </a:avLst>
          </a:prstGeom>
          <a:solidFill>
            <a:srgbClr val="080D1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01000" y="363016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00F3FF"/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92440" y="363016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232 -&gt; 272 FPS (+17% 상승)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949440" y="409651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사이버펑크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001000" y="4133088"/>
            <a:ext cx="3383280" cy="256032"/>
          </a:xfrm>
          <a:prstGeom prst="roundRect">
            <a:avLst>
              <a:gd name="adj" fmla="val 50000"/>
            </a:avLst>
          </a:prstGeom>
          <a:solidFill>
            <a:srgbClr val="080D1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001000" y="4133088"/>
            <a:ext cx="2468880" cy="256032"/>
          </a:xfrm>
          <a:prstGeom prst="roundRect">
            <a:avLst>
              <a:gd name="adj" fmla="val 50000"/>
            </a:avLst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92440" y="413308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94 -&gt; 116 FPS (+23% 상승)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949440" y="4709160"/>
            <a:ext cx="4480560" cy="868680"/>
          </a:xfrm>
          <a:prstGeom prst="roundRect">
            <a:avLst>
              <a:gd name="adj" fmla="val 12632"/>
            </a:avLst>
          </a:prstGeom>
          <a:solidFill>
            <a:srgbClr val="00F3FF">
              <a:alpha val="12000"/>
            </a:srgbClr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86600" y="475488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[AI 판정 결론]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QHD 배그 기준 5070도 이미 232 FPS로 충분!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RTX 5070 유지로 추가 지출 절약 추천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9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1274552" cy="36576"/>
          </a:xfrm>
          <a:prstGeom prst="rect">
            <a:avLst/>
          </a:prstGeom>
          <a:solidFill>
            <a:srgbClr val="00F3FF">
              <a:alpha val="40000"/>
            </a:srgbClr>
          </a:solidFill>
          <a:ln w="12700">
            <a:solidFill>
              <a:srgbClr val="00F3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84048"/>
            <a:ext cx="3840480" cy="329184"/>
          </a:xfrm>
          <a:prstGeom prst="roundRect">
            <a:avLst>
              <a:gd name="adj" fmla="val 50000"/>
            </a:avLst>
          </a:prstGeom>
          <a:solidFill>
            <a:srgbClr val="00F3FF">
              <a:alpha val="15000"/>
            </a:srgbClr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84048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F3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PROJECT ROADMAP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786384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1학기 완성 기반 위에서 2학기 무엇을 추가했는가?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6355080"/>
            <a:ext cx="11274552" cy="182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PC-FIT 2.0 : AI 부품·가격 비교 및 가성비 어드바이저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601200" y="6419088"/>
            <a:ext cx="2130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F3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SLIDE 02 / 09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4892040" cy="4663440"/>
          </a:xfrm>
          <a:prstGeom prst="roundRect">
            <a:avLst>
              <a:gd name="adj" fmla="val 3922"/>
            </a:avLst>
          </a:prstGeom>
          <a:solidFill>
            <a:srgbClr val="0F162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6276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1학기 완성 내역 (Baseline)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1938528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F3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"예산·용도 맞춤 초기 견적 생성"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731520" y="2560320"/>
            <a:ext cx="1353312" cy="1508760"/>
          </a:xfrm>
          <a:prstGeom prst="roundRect">
            <a:avLst>
              <a:gd name="adj" fmla="val 9459"/>
            </a:avLst>
          </a:prstGeom>
          <a:solidFill>
            <a:srgbClr val="080D1A"/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651760"/>
            <a:ext cx="1353312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1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5단계 설문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(용도·예산 입력)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176272" y="2560320"/>
            <a:ext cx="1353312" cy="1508760"/>
          </a:xfrm>
          <a:prstGeom prst="roundRect">
            <a:avLst>
              <a:gd name="adj" fmla="val 9459"/>
            </a:avLst>
          </a:prstGeom>
          <a:solidFill>
            <a:srgbClr val="080D1A"/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76272" y="2651760"/>
            <a:ext cx="1353312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2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호환성 검증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(소켓·파워 체크)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21024" y="2560320"/>
            <a:ext cx="1353312" cy="1508760"/>
          </a:xfrm>
          <a:prstGeom prst="roundRect">
            <a:avLst>
              <a:gd name="adj" fmla="val 9459"/>
            </a:avLst>
          </a:prstGeom>
          <a:solidFill>
            <a:srgbClr val="080D1A"/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21024" y="2651760"/>
            <a:ext cx="1353312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3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견적서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(8종 부품 도출)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4343400"/>
            <a:ext cx="4343400" cy="1417320"/>
          </a:xfrm>
          <a:prstGeom prst="roundRect">
            <a:avLst>
              <a:gd name="adj" fmla="val 9032"/>
            </a:avLst>
          </a:prstGeom>
          <a:solidFill>
            <a:srgbClr val="FF0080">
              <a:alpha val="14000"/>
            </a:srgbClr>
          </a:solidFill>
          <a:ln w="12700">
            <a:solidFill>
              <a:srgbClr val="FF5C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4434840"/>
            <a:ext cx="4069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[1학기 완료 후 발견된 한계점]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"견적서는 나왔는데, 여기서 돈을 더 주고 윗등급 부품을 살지 말지 몰라서 다시 유튜브·다나와를 뒤져야 하네?"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0" y="3474720"/>
            <a:ext cx="502920" cy="411480"/>
          </a:xfrm>
          <a:prstGeom prst="rightArrow">
            <a:avLst/>
          </a:prstGeom>
          <a:solidFill>
            <a:srgbClr val="00F3FF"/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26480" y="1417320"/>
            <a:ext cx="5577840" cy="4663440"/>
          </a:xfrm>
          <a:prstGeom prst="roundRect">
            <a:avLst>
              <a:gd name="adj" fmla="val 3922"/>
            </a:avLst>
          </a:prstGeom>
          <a:solidFill>
            <a:srgbClr val="0F1626"/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162763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C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2학기 신규 개발 (실제 구현 기능)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0" y="193852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"최종 견적 내 AI 가격·성능 비교 &amp; 직관적 시각화"</a:t>
            </a:r>
            <a:endParaRPr lang="en-US" sz="1850" dirty="0"/>
          </a:p>
        </p:txBody>
      </p:sp>
      <p:sp>
        <p:nvSpPr>
          <p:cNvPr id="24" name="Shape 22"/>
          <p:cNvSpPr/>
          <p:nvPr/>
        </p:nvSpPr>
        <p:spPr>
          <a:xfrm>
            <a:off x="6400800" y="2560320"/>
            <a:ext cx="5029200" cy="960120"/>
          </a:xfrm>
          <a:prstGeom prst="roundRect">
            <a:avLst>
              <a:gd name="adj" fmla="val 13333"/>
            </a:avLst>
          </a:prstGeom>
          <a:solidFill>
            <a:srgbClr val="080D1A"/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7960" y="2633472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AI 부품 비교 &amp; 가성비 어드바이저 (PartAdvisorCard.vue)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빠른 질문 버튼 클릭으로 두 부품의 게임 프레임(FPS) 막대차트와 스펙·가격 비교표 생성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0" y="3703320"/>
            <a:ext cx="5029200" cy="960120"/>
          </a:xfrm>
          <a:prstGeom prst="roundRect">
            <a:avLst>
              <a:gd name="adj" fmla="val 13333"/>
            </a:avLst>
          </a:prstGeom>
          <a:solidFill>
            <a:srgbClr val="080D1A"/>
          </a:solidFill>
          <a:ln w="12700">
            <a:solidFill>
              <a:srgbClr val="D97B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3776472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하드웨어 벤치마크 기준표 + 부품 DB 연동 (advisorController.js)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3DMark 점수, 퀘이사존 QHD 평균 FPS, DB 부품 스펙을 AI에게 전달해 정확한 비교 수행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0" y="4846320"/>
            <a:ext cx="5029200" cy="960120"/>
          </a:xfrm>
          <a:prstGeom prst="roundRect">
            <a:avLst>
              <a:gd name="adj" fmla="val 13333"/>
            </a:avLst>
          </a:prstGeom>
          <a:solidFill>
            <a:srgbClr val="080D1A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37960" y="4919472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네이버 쇼핑 가격비교 구매 연동 (PartCard.vue)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견적의 각 부품 카드에서 [네이버 쇼핑 구매] 버튼으로 실시간 최저가 검색 연결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9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1274552" cy="36576"/>
          </a:xfrm>
          <a:prstGeom prst="rect">
            <a:avLst/>
          </a:prstGeom>
          <a:solidFill>
            <a:srgbClr val="00F3FF">
              <a:alpha val="40000"/>
            </a:srgbClr>
          </a:solidFill>
          <a:ln w="12700">
            <a:solidFill>
              <a:srgbClr val="00F3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84048"/>
            <a:ext cx="3840480" cy="329184"/>
          </a:xfrm>
          <a:prstGeom prst="roundRect">
            <a:avLst>
              <a:gd name="adj" fmla="val 50000"/>
            </a:avLst>
          </a:prstGeom>
          <a:solidFill>
            <a:srgbClr val="FF5CA8">
              <a:alpha val="15000"/>
            </a:srgbClr>
          </a:solidFill>
          <a:ln w="12700">
            <a:solidFill>
              <a:srgbClr val="FF5C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84048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5C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해결하고자 하는 문제 — 왜 만들었는가?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786384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견적을 맞춘 뒤 친구들이 겪은 3가지 실제 고민 사례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6355080"/>
            <a:ext cx="11274552" cy="182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PC-FIT 2.0 : AI 부품·가격 비교 및 가성비 어드바이저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601200" y="6419088"/>
            <a:ext cx="2130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F3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SLIDE 03 / 09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3639312" cy="4663440"/>
          </a:xfrm>
          <a:prstGeom prst="roundRect">
            <a:avLst>
              <a:gd name="adj" fmla="val 5025"/>
            </a:avLst>
          </a:prstGeom>
          <a:solidFill>
            <a:srgbClr val="0F1626"/>
          </a:solidFill>
          <a:ln w="12700">
            <a:solidFill>
              <a:srgbClr val="FF5C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6002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5C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[사례 01] 내 친구의 그래픽카드 고민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58368" y="192024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"견적 다 짰는데</a:t>
            </a:r>
            <a:endParaRPr lang="en-US" sz="1550" dirty="0"/>
          </a:p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5070 살까, 5070 Ti 살까?"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658368" y="2743200"/>
            <a:ext cx="3236976" cy="960120"/>
          </a:xfrm>
          <a:prstGeom prst="roundRect">
            <a:avLst>
              <a:gd name="adj" fmla="val 11429"/>
            </a:avLst>
          </a:prstGeom>
          <a:solidFill>
            <a:srgbClr val="080D1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788920"/>
            <a:ext cx="318211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RTX 5070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(VRAM 12GB)   VS   RTX 5070 Ti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(VRAM 16GB)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68680" y="3840480"/>
            <a:ext cx="2816352" cy="384048"/>
          </a:xfrm>
          <a:prstGeom prst="roundRect">
            <a:avLst>
              <a:gd name="adj" fmla="val 47619"/>
            </a:avLst>
          </a:prstGeom>
          <a:solidFill>
            <a:srgbClr val="FF5CA8">
              <a:alpha val="18000"/>
            </a:srgbClr>
          </a:solidFill>
          <a:ln w="12700">
            <a:solidFill>
              <a:srgbClr val="FF5C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840480"/>
            <a:ext cx="28163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5C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가격 차이 약 40~60만 원!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8368" y="4389120"/>
            <a:ext cx="3236976" cy="1463040"/>
          </a:xfrm>
          <a:prstGeom prst="roundRect">
            <a:avLst>
              <a:gd name="adj" fmla="val 7500"/>
            </a:avLst>
          </a:prstGeom>
          <a:solidFill>
            <a:srgbClr val="080D1A"/>
          </a:solidFill>
          <a:ln w="12700">
            <a:solidFill>
              <a:srgbClr val="FF5C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462272"/>
            <a:ext cx="2999232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"성능 차이 나는 건 알겠는데, 지금 내가 할 게임과 앞으로 할 게임에 이 돈을 더 주고 사야 하나?"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251960" y="1417320"/>
            <a:ext cx="3639312" cy="4663440"/>
          </a:xfrm>
          <a:prstGeom prst="roundRect">
            <a:avLst>
              <a:gd name="adj" fmla="val 5025"/>
            </a:avLst>
          </a:prstGeom>
          <a:solidFill>
            <a:srgbClr val="0F1626"/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53128" y="16002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F3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[사례 02] CPU 게이밍 체감 고민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453128" y="192024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"유튜브에선 무조건 가라는데</a:t>
            </a:r>
            <a:endParaRPr lang="en-US" sz="1550" dirty="0"/>
          </a:p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35만 원 값어치를 할까?"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4453128" y="2743200"/>
            <a:ext cx="3236976" cy="960120"/>
          </a:xfrm>
          <a:prstGeom prst="roundRect">
            <a:avLst>
              <a:gd name="adj" fmla="val 11429"/>
            </a:avLst>
          </a:prstGeom>
          <a:solidFill>
            <a:srgbClr val="080D1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80560" y="2788920"/>
            <a:ext cx="318211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라이젠 7500F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(약 21만 원)   VS   7800X3D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(약 56만 원)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3840480"/>
            <a:ext cx="2816352" cy="384048"/>
          </a:xfrm>
          <a:prstGeom prst="roundRect">
            <a:avLst>
              <a:gd name="adj" fmla="val 47619"/>
            </a:avLst>
          </a:prstGeom>
          <a:solidFill>
            <a:srgbClr val="00F3FF">
              <a:alpha val="18000"/>
            </a:srgbClr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3840480"/>
            <a:ext cx="28163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F3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가격 2.6배 (+35만 원 차이)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453128" y="4389120"/>
            <a:ext cx="3236976" cy="1463040"/>
          </a:xfrm>
          <a:prstGeom prst="roundRect">
            <a:avLst>
              <a:gd name="adj" fmla="val 7500"/>
            </a:avLst>
          </a:prstGeom>
          <a:solidFill>
            <a:srgbClr val="080D1A"/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0" y="4462272"/>
            <a:ext cx="2999232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"35만 원 더 쓰면 내 모니터(QHD)에서 실제 프레임(FPS)이 몇이나 오르길래? 글카에 보태는 게 낫지 않나?"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046720" y="1417320"/>
            <a:ext cx="3639312" cy="4663440"/>
          </a:xfrm>
          <a:prstGeom prst="roundRect">
            <a:avLst>
              <a:gd name="adj" fmla="val 5025"/>
            </a:avLst>
          </a:prstGeom>
          <a:solidFill>
            <a:srgbClr val="0F1626"/>
          </a:solidFill>
          <a:ln w="12700">
            <a:solidFill>
              <a:srgbClr val="D97B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47888" y="16002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B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[사례 03] 예산 초과 다이어트 고민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247888" y="192024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"예산보다 20만 원 넘었는데</a:t>
            </a:r>
            <a:endParaRPr lang="en-US" sz="1550" dirty="0"/>
          </a:p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어디를 낮춰야 손해가 적을까?"</a:t>
            </a:r>
            <a:endParaRPr lang="en-US" sz="1550" dirty="0"/>
          </a:p>
        </p:txBody>
      </p:sp>
      <p:sp>
        <p:nvSpPr>
          <p:cNvPr id="30" name="Shape 28"/>
          <p:cNvSpPr/>
          <p:nvPr/>
        </p:nvSpPr>
        <p:spPr>
          <a:xfrm>
            <a:off x="8247888" y="2743200"/>
            <a:ext cx="3236976" cy="960120"/>
          </a:xfrm>
          <a:prstGeom prst="roundRect">
            <a:avLst>
              <a:gd name="adj" fmla="val 11429"/>
            </a:avLst>
          </a:prstGeom>
          <a:solidFill>
            <a:srgbClr val="080D1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75320" y="2788920"/>
            <a:ext cx="318211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그래픽카드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단계 낮추기   VS   CPU·메인보드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낮추기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458200" y="3840480"/>
            <a:ext cx="2816352" cy="384048"/>
          </a:xfrm>
          <a:prstGeom prst="roundRect">
            <a:avLst>
              <a:gd name="adj" fmla="val 47619"/>
            </a:avLst>
          </a:prstGeom>
          <a:solidFill>
            <a:srgbClr val="D97BFF">
              <a:alpha val="18000"/>
            </a:srgbClr>
          </a:solidFill>
          <a:ln w="12700">
            <a:solidFill>
              <a:srgbClr val="D97B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58200" y="3840480"/>
            <a:ext cx="28163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B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프레임 손실 최소 조합은?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247888" y="4389120"/>
            <a:ext cx="3236976" cy="1463040"/>
          </a:xfrm>
          <a:prstGeom prst="roundRect">
            <a:avLst>
              <a:gd name="adj" fmla="val 7500"/>
            </a:avLst>
          </a:prstGeom>
          <a:solidFill>
            <a:srgbClr val="080D1A"/>
          </a:solidFill>
          <a:ln w="12700">
            <a:solidFill>
              <a:srgbClr val="D97B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66760" y="4462272"/>
            <a:ext cx="2999232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"20만 원을 아끼고 싶은데, CPU를 낮추는 게 나을지 그래픽카드를 낮추는 게 유리할지 수치로 보고 싶다!"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9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1274552" cy="36576"/>
          </a:xfrm>
          <a:prstGeom prst="rect">
            <a:avLst/>
          </a:prstGeom>
          <a:solidFill>
            <a:srgbClr val="00F3FF">
              <a:alpha val="40000"/>
            </a:srgbClr>
          </a:solidFill>
          <a:ln w="12700">
            <a:solidFill>
              <a:srgbClr val="00F3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84048"/>
            <a:ext cx="3840480" cy="329184"/>
          </a:xfrm>
          <a:prstGeom prst="roundRect">
            <a:avLst>
              <a:gd name="adj" fmla="val 50000"/>
            </a:avLst>
          </a:prstGeom>
          <a:solidFill>
            <a:srgbClr val="FF5CA8">
              <a:alpha val="15000"/>
            </a:srgbClr>
          </a:solidFill>
          <a:ln w="12700">
            <a:solidFill>
              <a:srgbClr val="FF5C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84048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5C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해결하고자 하는 문제 — 검색 피로도 해결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786384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부품 하나 비교하려고 여러 사이트를 헤매던 과정을 한 화면으로 통합!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6355080"/>
            <a:ext cx="11274552" cy="182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PC-FIT 2.0 : AI 부품·가격 비교 및 가성비 어드바이저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601200" y="6419088"/>
            <a:ext cx="2130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F3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SLIDE 04 / 09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5440680" cy="4663440"/>
          </a:xfrm>
          <a:prstGeom prst="roundRect">
            <a:avLst>
              <a:gd name="adj" fmla="val 3922"/>
            </a:avLst>
          </a:prstGeom>
          <a:solidFill>
            <a:srgbClr val="0F1626"/>
          </a:solidFill>
          <a:ln w="12700">
            <a:solidFill>
              <a:srgbClr val="FF5C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6459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5C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BEFORE : 기존 구매자의 4단계 비교 과정 (수 시간 소요)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31520" y="2148840"/>
            <a:ext cx="2377440" cy="1325880"/>
          </a:xfrm>
          <a:prstGeom prst="roundRect">
            <a:avLst>
              <a:gd name="adj" fmla="val 9655"/>
            </a:avLst>
          </a:prstGeom>
          <a:solidFill>
            <a:srgbClr val="080D1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240280"/>
            <a:ext cx="21031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[1단계] 유튜브 벤치마크 검색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"5070 vs 5070 Ti 프레임"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해외 비교 영상을 일일이 찾아 시청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46120" y="2148840"/>
            <a:ext cx="2377440" cy="1325880"/>
          </a:xfrm>
          <a:prstGeom prst="roundRect">
            <a:avLst>
              <a:gd name="adj" fmla="val 9655"/>
            </a:avLst>
          </a:prstGeom>
          <a:solidFill>
            <a:srgbClr val="080D1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2240280"/>
            <a:ext cx="21031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[2단계] 쇼핑몰 가격 비교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다나와·네이버에서 두 부품의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실구매가 차액을 직접 계산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657600"/>
            <a:ext cx="2377440" cy="1325880"/>
          </a:xfrm>
          <a:prstGeom prst="roundRect">
            <a:avLst>
              <a:gd name="adj" fmla="val 9655"/>
            </a:avLst>
          </a:prstGeom>
          <a:solidFill>
            <a:srgbClr val="080D1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749040"/>
            <a:ext cx="21031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[3단계] 권장 파워·스펙 확인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"파워 용량도 올려야 하나?"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TDP 소비전력 스펙표 재검색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46120" y="3657600"/>
            <a:ext cx="2377440" cy="1325880"/>
          </a:xfrm>
          <a:prstGeom prst="roundRect">
            <a:avLst>
              <a:gd name="adj" fmla="val 9655"/>
            </a:avLst>
          </a:prstGeom>
          <a:solidFill>
            <a:srgbClr val="080D1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3749040"/>
            <a:ext cx="21031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[4단계] 커뮤니티 질문글 작성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"이 돈 더 쓸 가치 있나요?"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답변 달릴 때까지 대기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5257800"/>
            <a:ext cx="4892040" cy="594360"/>
          </a:xfrm>
          <a:prstGeom prst="roundRect">
            <a:avLst>
              <a:gd name="adj" fmla="val 18462"/>
            </a:avLst>
          </a:prstGeom>
          <a:solidFill>
            <a:srgbClr val="FF0080">
              <a:alpha val="15000"/>
            </a:srgbClr>
          </a:solidFill>
          <a:ln w="12700">
            <a:solidFill>
              <a:srgbClr val="FF5C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5257800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5C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[한계] 정보가 여러 사이트에 흩어져 있어 결국 과소비하거나 결정을 못 내림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63640" y="1417320"/>
            <a:ext cx="5440680" cy="4663440"/>
          </a:xfrm>
          <a:prstGeom prst="roundRect">
            <a:avLst>
              <a:gd name="adj" fmla="val 3922"/>
            </a:avLst>
          </a:prstGeom>
          <a:solidFill>
            <a:srgbClr val="0F1626"/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960" y="16459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F3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AFTER : PC-FIT 2.0 AI 부품 비교 어드바이저 (원클릭 해결)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537960" y="2286000"/>
            <a:ext cx="1554480" cy="1783080"/>
          </a:xfrm>
          <a:prstGeom prst="roundRect">
            <a:avLst>
              <a:gd name="adj" fmla="val 8824"/>
            </a:avLst>
          </a:prstGeom>
          <a:solidFill>
            <a:srgbClr val="080D1A"/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11112" y="2377440"/>
            <a:ext cx="1408176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[핵심 1]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게임 FPS 막대차트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배그·사펑·3DMark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점수 시각 비교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183880" y="2286000"/>
            <a:ext cx="1554480" cy="1783080"/>
          </a:xfrm>
          <a:prstGeom prst="roundRect">
            <a:avLst>
              <a:gd name="adj" fmla="val 8824"/>
            </a:avLst>
          </a:prstGeom>
          <a:solidFill>
            <a:srgbClr val="080D1A"/>
          </a:solidFill>
          <a:ln w="12700">
            <a:solidFill>
              <a:srgbClr val="FF5C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57032" y="2377440"/>
            <a:ext cx="1408176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[핵심 2]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가격·스펙 비교표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가격 차액·VRAM·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권장파워 한눈에 대조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829800" y="2286000"/>
            <a:ext cx="1554480" cy="1783080"/>
          </a:xfrm>
          <a:prstGeom prst="roundRect">
            <a:avLst>
              <a:gd name="adj" fmla="val 8824"/>
            </a:avLst>
          </a:prstGeom>
          <a:solidFill>
            <a:srgbClr val="080D1A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902952" y="2377440"/>
            <a:ext cx="1408176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[핵심 3]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가성비 결론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유지 vs 업그레이드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명확한 한 줄 판정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537960" y="4297680"/>
            <a:ext cx="4892040" cy="731520"/>
          </a:xfrm>
          <a:prstGeom prst="roundRect">
            <a:avLst>
              <a:gd name="adj" fmla="val 15000"/>
            </a:avLst>
          </a:prstGeom>
          <a:solidFill>
            <a:srgbClr val="080D1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37960" y="4297680"/>
            <a:ext cx="4892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하단에 분석 데이터 출처(퀘이사존·3DMark·Supabase DB)를 함께 표시해 신뢰도 확보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537960" y="5257800"/>
            <a:ext cx="4892040" cy="594360"/>
          </a:xfrm>
          <a:prstGeom prst="roundRect">
            <a:avLst>
              <a:gd name="adj" fmla="val 18462"/>
            </a:avLst>
          </a:prstGeom>
          <a:solidFill>
            <a:srgbClr val="00E676">
              <a:alpha val="15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37960" y="5257800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E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[해결] 외부 사이트를 돌아다닐 필요 없이 최종 견적 화면 안에서 즉시 비교·결정!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9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1274552" cy="36576"/>
          </a:xfrm>
          <a:prstGeom prst="rect">
            <a:avLst/>
          </a:prstGeom>
          <a:solidFill>
            <a:srgbClr val="00F3FF">
              <a:alpha val="40000"/>
            </a:srgbClr>
          </a:solidFill>
          <a:ln w="12700">
            <a:solidFill>
              <a:srgbClr val="00F3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84048"/>
            <a:ext cx="3840480" cy="329184"/>
          </a:xfrm>
          <a:prstGeom prst="roundRect">
            <a:avLst>
              <a:gd name="adj" fmla="val 50000"/>
            </a:avLst>
          </a:prstGeom>
          <a:solidFill>
            <a:srgbClr val="D97BFF">
              <a:alpha val="15000"/>
            </a:srgbClr>
          </a:solidFill>
          <a:ln w="12700">
            <a:solidFill>
              <a:srgbClr val="D97B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84048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B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해결을 위해 인공지능을 활용한 방안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786384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AI가 부정확한 스펙을 말하지 않도록 실제 부품 DB와 벤치마크 표를 함께 전달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6355080"/>
            <a:ext cx="11274552" cy="182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PC-FIT 2.0 : AI 부품·가격 비교 및 가성비 어드바이저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601200" y="6419088"/>
            <a:ext cx="2130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F3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SLIDE 05 / 09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3566160" cy="4663440"/>
          </a:xfrm>
          <a:prstGeom prst="roundRect">
            <a:avLst>
              <a:gd name="adj" fmla="val 5128"/>
            </a:avLst>
          </a:prstGeom>
          <a:solidFill>
            <a:srgbClr val="0F1626"/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60020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F3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01 · 기준 데이터 전달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00F3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프롬프트에 넣어주는 3가지 정보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85800" y="2423160"/>
            <a:ext cx="3108960" cy="960120"/>
          </a:xfrm>
          <a:prstGeom prst="roundRect">
            <a:avLst>
              <a:gd name="adj" fmla="val 11429"/>
            </a:avLst>
          </a:prstGeom>
          <a:solidFill>
            <a:srgbClr val="080D1A"/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2496312"/>
            <a:ext cx="287121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1) 현재 내 견적 &amp; 대안 부품 정보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예산, 용도(게임/작업), 상·하위 대안 모델명 전달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85800" y="3566160"/>
            <a:ext cx="3108960" cy="960120"/>
          </a:xfrm>
          <a:prstGeom prst="roundRect">
            <a:avLst>
              <a:gd name="adj" fmla="val 11429"/>
            </a:avLst>
          </a:prstGeom>
          <a:solidFill>
            <a:srgbClr val="080D1A"/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3639312"/>
            <a:ext cx="287121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2) Supabase 부품 DB 스펙 조회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parts 테이블에서 비교 대상 부품의 스펙과 기준가 조회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5800" y="4709160"/>
            <a:ext cx="3108960" cy="960120"/>
          </a:xfrm>
          <a:prstGeom prst="roundRect">
            <a:avLst>
              <a:gd name="adj" fmla="val 11429"/>
            </a:avLst>
          </a:prstGeom>
          <a:solidFill>
            <a:srgbClr val="080D1A"/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4782312"/>
            <a:ext cx="287121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3) 내장 벤치마크 레퍼런스 표 매칭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3DMark 점수, 퀘이사존 QHD 배그·사펑 FPS 기준표 전달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114800" y="3566160"/>
            <a:ext cx="320040" cy="320040"/>
          </a:xfrm>
          <a:prstGeom prst="rightArrow">
            <a:avLst/>
          </a:prstGeom>
          <a:solidFill>
            <a:srgbClr val="00F3FF"/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26280" y="1417320"/>
            <a:ext cx="3108960" cy="4663440"/>
          </a:xfrm>
          <a:prstGeom prst="roundRect">
            <a:avLst>
              <a:gd name="adj" fmla="val 5882"/>
            </a:avLst>
          </a:prstGeom>
          <a:solidFill>
            <a:srgbClr val="0F1626"/>
          </a:solidFill>
          <a:ln w="12700">
            <a:solidFill>
              <a:srgbClr val="D97B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160020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97B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02 · AI 비교 분석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D97B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정형 JSON 데이터 생성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709160" y="237744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전달받은 실제 벤치마크 수치와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가격 차이를 바탕으로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사용자의 용도에 맞는 가성비를 분석하고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지정된 JSON 형식으로 응답합니다.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754880" y="4251960"/>
            <a:ext cx="2651760" cy="1508760"/>
          </a:xfrm>
          <a:prstGeom prst="roundRect">
            <a:avLst>
              <a:gd name="adj" fmla="val 8485"/>
            </a:avLst>
          </a:prstGeom>
          <a:solidFill>
            <a:srgbClr val="080D1A"/>
          </a:solidFill>
          <a:ln w="12700">
            <a:solidFill>
              <a:srgbClr val="D97B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4315968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[Google Gemini AI 엔진]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Gemini 2.5 Flash 기반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정형 JSON 스키마 응답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(verdict · chartData · tableData)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726680" y="3566160"/>
            <a:ext cx="320040" cy="320040"/>
          </a:xfrm>
          <a:prstGeom prst="rightArrow">
            <a:avLst/>
          </a:prstGeom>
          <a:solidFill>
            <a:srgbClr val="FF5CA8"/>
          </a:solidFill>
          <a:ln w="12700">
            <a:solidFill>
              <a:srgbClr val="FF5CA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38160" y="1417320"/>
            <a:ext cx="3566160" cy="4663440"/>
          </a:xfrm>
          <a:prstGeom prst="roundRect">
            <a:avLst>
              <a:gd name="adj" fmla="val 5128"/>
            </a:avLst>
          </a:prstGeom>
          <a:solidFill>
            <a:srgbClr val="0F1626"/>
          </a:solidFill>
          <a:ln w="12700">
            <a:solidFill>
              <a:srgbClr val="FF5C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66760" y="160020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5C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03 · 화면 시각화 출력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FF5C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줄글 대신 차트와 비교표로 표시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8366760" y="2423160"/>
            <a:ext cx="3108960" cy="960120"/>
          </a:xfrm>
          <a:prstGeom prst="roundRect">
            <a:avLst>
              <a:gd name="adj" fmla="val 11429"/>
            </a:avLst>
          </a:prstGeom>
          <a:solidFill>
            <a:srgbClr val="080D1A"/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85632" y="2496312"/>
            <a:ext cx="287121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Tier 1 · 한 줄 최종 추천 결론 (verdict)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부품을 선택해야 이득인지 3줄 요약과 함께 표시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366760" y="3566160"/>
            <a:ext cx="3108960" cy="960120"/>
          </a:xfrm>
          <a:prstGeom prst="roundRect">
            <a:avLst>
              <a:gd name="adj" fmla="val 11429"/>
            </a:avLst>
          </a:prstGeom>
          <a:solidFill>
            <a:srgbClr val="080D1A"/>
          </a:solidFill>
          <a:ln w="12700">
            <a:solidFill>
              <a:srgbClr val="FF5CA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85632" y="3639312"/>
            <a:ext cx="287121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Tier 2 · 가로 막대그래프 &amp; 스펙 비교표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게임 프레임 막대차트(chartData) + 비교표(tableData)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366760" y="4709160"/>
            <a:ext cx="3108960" cy="960120"/>
          </a:xfrm>
          <a:prstGeom prst="roundRect">
            <a:avLst>
              <a:gd name="adj" fmla="val 11429"/>
            </a:avLst>
          </a:prstGeom>
          <a:solidFill>
            <a:srgbClr val="080D1A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85632" y="4782312"/>
            <a:ext cx="287121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Tier 3 · 데이터 출처 배지 (sources)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참조한 벤치마크 출처(3DMark, 퀘이사존, DB) 하단 표시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9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1274552" cy="36576"/>
          </a:xfrm>
          <a:prstGeom prst="rect">
            <a:avLst/>
          </a:prstGeom>
          <a:solidFill>
            <a:srgbClr val="00F3FF">
              <a:alpha val="40000"/>
            </a:srgbClr>
          </a:solidFill>
          <a:ln w="12700">
            <a:solidFill>
              <a:srgbClr val="00F3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84048"/>
            <a:ext cx="3840480" cy="329184"/>
          </a:xfrm>
          <a:prstGeom prst="roundRect">
            <a:avLst>
              <a:gd name="adj" fmla="val 50000"/>
            </a:avLst>
          </a:prstGeom>
          <a:solidFill>
            <a:srgbClr val="00F3FF">
              <a:alpha val="15000"/>
            </a:srgbClr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84048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F3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서비스 기획서 — 실제 구현된 4대 핵심 기능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786384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견적 페이지(BuilderResultPage.vue)에 구현된 4가지 핵심 기능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6355080"/>
            <a:ext cx="11274552" cy="182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PC-FIT 2.0 : AI 부품·가격 비교 및 가성비 어드바이저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601200" y="6419088"/>
            <a:ext cx="2130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F3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SLIDE 06 / 09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2697480" cy="4663440"/>
          </a:xfrm>
          <a:prstGeom prst="roundRect">
            <a:avLst>
              <a:gd name="adj" fmla="val 6780"/>
            </a:avLst>
          </a:prstGeom>
          <a:solidFill>
            <a:srgbClr val="0F1626"/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1691640"/>
            <a:ext cx="1691640" cy="329184"/>
          </a:xfrm>
          <a:prstGeom prst="roundRect">
            <a:avLst>
              <a:gd name="adj" fmla="val 50000"/>
            </a:avLst>
          </a:prstGeom>
          <a:solidFill>
            <a:srgbClr val="00F3FF">
              <a:alpha val="18000"/>
            </a:srgbClr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1691640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F3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FUNCTION 01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219456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맞춤형 빠른 질문 칩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2880360"/>
            <a:ext cx="23317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견적의 GPU·CPU 대안 부품과 예산 초과 여부를 계산해 가장 많이 고민하는 비교 질문 버튼 3개를 자동 생성합니다.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5074920"/>
            <a:ext cx="2331720" cy="685800"/>
          </a:xfrm>
          <a:prstGeom prst="roundRect">
            <a:avLst>
              <a:gd name="adj" fmla="val 16000"/>
            </a:avLst>
          </a:prstGeom>
          <a:solidFill>
            <a:srgbClr val="080D1A"/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507492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F3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타자 칠 필요 없이 클릭 비교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310128" y="1417320"/>
            <a:ext cx="2697480" cy="4663440"/>
          </a:xfrm>
          <a:prstGeom prst="roundRect">
            <a:avLst>
              <a:gd name="adj" fmla="val 6780"/>
            </a:avLst>
          </a:prstGeom>
          <a:solidFill>
            <a:srgbClr val="0F1626"/>
          </a:solidFill>
          <a:ln w="12700">
            <a:solidFill>
              <a:srgbClr val="FF5CA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13048" y="1691640"/>
            <a:ext cx="1691640" cy="329184"/>
          </a:xfrm>
          <a:prstGeom prst="roundRect">
            <a:avLst>
              <a:gd name="adj" fmla="val 50000"/>
            </a:avLst>
          </a:prstGeom>
          <a:solidFill>
            <a:srgbClr val="FF5CA8">
              <a:alpha val="18000"/>
            </a:srgbClr>
          </a:solidFill>
          <a:ln w="12700">
            <a:solidFill>
              <a:srgbClr val="FF5C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13048" y="1691640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5C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FUNCTION 02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47288" y="219456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FPS 차트 &amp; 스펙 비교표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493008" y="2880360"/>
            <a:ext cx="23317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부품의 게임 평균 프레임·3DMark 점수 가로 막대그래프와 가격 차이·VRAM·소비전력 비교표를 나란히 보여줍니다.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493008" y="5074920"/>
            <a:ext cx="2331720" cy="685800"/>
          </a:xfrm>
          <a:prstGeom prst="roundRect">
            <a:avLst>
              <a:gd name="adj" fmla="val 16000"/>
            </a:avLst>
          </a:prstGeom>
          <a:solidFill>
            <a:srgbClr val="080D1A"/>
          </a:solidFill>
          <a:ln w="12700">
            <a:solidFill>
              <a:srgbClr val="FF5C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93008" y="507492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5C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가격 차이 vs 성능 차이 직관적 확인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63056" y="1417320"/>
            <a:ext cx="2697480" cy="4663440"/>
          </a:xfrm>
          <a:prstGeom prst="roundRect">
            <a:avLst>
              <a:gd name="adj" fmla="val 6780"/>
            </a:avLst>
          </a:prstGeom>
          <a:solidFill>
            <a:srgbClr val="0F1626"/>
          </a:solidFill>
          <a:ln w="12700">
            <a:solidFill>
              <a:srgbClr val="D97B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65976" y="1691640"/>
            <a:ext cx="1691640" cy="329184"/>
          </a:xfrm>
          <a:prstGeom prst="roundRect">
            <a:avLst>
              <a:gd name="adj" fmla="val 50000"/>
            </a:avLst>
          </a:prstGeom>
          <a:solidFill>
            <a:srgbClr val="D97BFF">
              <a:alpha val="18000"/>
            </a:srgbClr>
          </a:solidFill>
          <a:ln w="12700">
            <a:solidFill>
              <a:srgbClr val="D97B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65976" y="1691640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B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FUNCTION 03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00216" y="219456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 데이터 출처 표시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45936" y="2880360"/>
            <a:ext cx="23317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비교 결과 하단에 Supabase DB 부품 매칭 건수와 3DMark·퀘이사존·TechPowerUp 등 참조 출처를 투명하게 표시합니다.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345936" y="5074920"/>
            <a:ext cx="2331720" cy="685800"/>
          </a:xfrm>
          <a:prstGeom prst="roundRect">
            <a:avLst>
              <a:gd name="adj" fmla="val 16000"/>
            </a:avLst>
          </a:prstGeom>
          <a:solidFill>
            <a:srgbClr val="080D1A"/>
          </a:solidFill>
          <a:ln w="12700">
            <a:solidFill>
              <a:srgbClr val="D97B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45936" y="507492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B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객관적 수치 근거로 신뢰도 향상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015984" y="1417320"/>
            <a:ext cx="2697480" cy="4663440"/>
          </a:xfrm>
          <a:prstGeom prst="roundRect">
            <a:avLst>
              <a:gd name="adj" fmla="val 6780"/>
            </a:avLst>
          </a:prstGeom>
          <a:solidFill>
            <a:srgbClr val="0F162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518904" y="1691640"/>
            <a:ext cx="1691640" cy="329184"/>
          </a:xfrm>
          <a:prstGeom prst="roundRect">
            <a:avLst>
              <a:gd name="adj" fmla="val 50000"/>
            </a:avLst>
          </a:prstGeom>
          <a:solidFill>
            <a:srgbClr val="00E676">
              <a:alpha val="18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518904" y="1691640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FUNCTION 04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153144" y="219456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네이버 쇼핑 구매 연동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198864" y="2880360"/>
            <a:ext cx="23317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견적의 각 부품 카드에 [네이버 쇼핑 구매] 버튼을 연동하여 클릭 시 해당 부품의 가격비교 검색창으로 바로 이동합니다.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9198864" y="5074920"/>
            <a:ext cx="2331720" cy="685800"/>
          </a:xfrm>
          <a:prstGeom prst="roundRect">
            <a:avLst>
              <a:gd name="adj" fmla="val 16000"/>
            </a:avLst>
          </a:prstGeom>
          <a:solidFill>
            <a:srgbClr val="080D1A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98864" y="507492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비교 검증 후 실제 구매까지 연결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9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1274552" cy="36576"/>
          </a:xfrm>
          <a:prstGeom prst="rect">
            <a:avLst/>
          </a:prstGeom>
          <a:solidFill>
            <a:srgbClr val="00F3FF">
              <a:alpha val="40000"/>
            </a:srgbClr>
          </a:solidFill>
          <a:ln w="12700">
            <a:solidFill>
              <a:srgbClr val="00F3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84048"/>
            <a:ext cx="3840480" cy="329184"/>
          </a:xfrm>
          <a:prstGeom prst="roundRect">
            <a:avLst>
              <a:gd name="adj" fmla="val 50000"/>
            </a:avLst>
          </a:prstGeom>
          <a:solidFill>
            <a:srgbClr val="00F3FF">
              <a:alpha val="15000"/>
            </a:srgbClr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84048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F3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서비스 기획서 — 실제 구현 화면 (PartAdvisorCard.vue)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786384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친구의 고민(RTX 5070 vs RTX 5070 Ti)을 실제 사이트에서 분석한 화면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6355080"/>
            <a:ext cx="11274552" cy="182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PC-FIT 2.0 : AI 부품·가격 비교 및 가성비 어드바이저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601200" y="6419088"/>
            <a:ext cx="2130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F3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SLIDE 07 / 09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8458200" y="384048"/>
            <a:ext cx="3273552" cy="475488"/>
          </a:xfrm>
          <a:prstGeom prst="roundRect">
            <a:avLst>
              <a:gd name="adj" fmla="val 48077"/>
            </a:avLst>
          </a:prstGeom>
          <a:solidFill>
            <a:srgbClr val="00E676">
              <a:alpha val="20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0" name="Text 8">
            <a:hlinkClick r:id="rId1" tooltip="https://pc-fit-tjandud.vercel.app/ 열기"/>
          </p:cNvPr>
          <p:cNvSpPr/>
          <p:nvPr/>
        </p:nvSpPr>
        <p:spPr>
          <a:xfrm>
            <a:off x="8458200" y="384048"/>
            <a:ext cx="32735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00E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  <a:hlinkClick r:id="rId1" invalidUrl="" action="" tgtFrame="" tooltip="https://pc-fit-tjandud.vercel.app/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실제 사이트 시뮬레이션 열기 (클릭)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371600"/>
            <a:ext cx="11274552" cy="4800600"/>
          </a:xfrm>
          <a:prstGeom prst="roundRect">
            <a:avLst>
              <a:gd name="adj" fmla="val 3810"/>
            </a:avLst>
          </a:prstGeom>
          <a:solidFill>
            <a:srgbClr val="070B16"/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1572768"/>
            <a:ext cx="10725912" cy="594360"/>
          </a:xfrm>
          <a:prstGeom prst="roundRect">
            <a:avLst>
              <a:gd name="adj" fmla="val 18462"/>
            </a:avLst>
          </a:prstGeom>
          <a:solidFill>
            <a:srgbClr val="00F3FF">
              <a:alpha val="14000"/>
            </a:srgbClr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1572768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[AI 최종 결론 (verdict)] QHD 게이밍 기준 평균 프레임 격차는 약 18%이나 가격 차이가 약 60만 원에 달하므로 RTX 5070 유지 추천!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2304288"/>
            <a:ext cx="5212080" cy="3154680"/>
          </a:xfrm>
          <a:prstGeom prst="roundRect">
            <a:avLst>
              <a:gd name="adj" fmla="val 4058"/>
            </a:avLst>
          </a:prstGeom>
          <a:solidFill>
            <a:srgbClr val="080D1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450592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3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게임 프레임 &amp; 벤치마크 비교 (chartData)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283464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배틀그라운드 (QHD 울트라) — 5070 Ti +17% 우세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14400" y="312724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F3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RTX 5070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874520" y="3145536"/>
            <a:ext cx="2651760" cy="201168"/>
          </a:xfrm>
          <a:prstGeom prst="roundRect">
            <a:avLst>
              <a:gd name="adj" fmla="val 45455"/>
            </a:avLst>
          </a:prstGeom>
          <a:solidFill>
            <a:srgbClr val="00F3FF"/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3127248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F3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232 FPS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914400" y="3419856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5C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5070 Ti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874520" y="3438144"/>
            <a:ext cx="3108960" cy="201168"/>
          </a:xfrm>
          <a:prstGeom prst="roundRect">
            <a:avLst>
              <a:gd name="adj" fmla="val 45455"/>
            </a:avLst>
          </a:prstGeom>
          <a:solidFill>
            <a:srgbClr val="FF0080"/>
          </a:solidFill>
          <a:ln w="12700">
            <a:solidFill>
              <a:srgbClr val="FF00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4920" y="3419856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5C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272 FPS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14400" y="384048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사이버펑크 2077 (QHD 높음) — 5070 Ti +23% 우세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14400" y="413308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F3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RTX 5070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874520" y="4151376"/>
            <a:ext cx="2514600" cy="201168"/>
          </a:xfrm>
          <a:prstGeom prst="roundRect">
            <a:avLst>
              <a:gd name="adj" fmla="val 45455"/>
            </a:avLst>
          </a:prstGeom>
          <a:solidFill>
            <a:srgbClr val="00F3FF"/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80560" y="4133088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F3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94 FPS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14400" y="4425696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5C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5070 Ti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874520" y="4443984"/>
            <a:ext cx="3108960" cy="201168"/>
          </a:xfrm>
          <a:prstGeom prst="roundRect">
            <a:avLst>
              <a:gd name="adj" fmla="val 45455"/>
            </a:avLst>
          </a:prstGeom>
          <a:solidFill>
            <a:srgbClr val="FF0080"/>
          </a:solidFill>
          <a:ln w="12700">
            <a:solidFill>
              <a:srgbClr val="FF00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74920" y="4425696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5C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116 FPS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914400" y="48920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3DMark Time Spy 그래픽 점수 — 22,900점 vs 27,800점 (+21% 차이)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26480" y="2304288"/>
            <a:ext cx="5330952" cy="3154680"/>
          </a:xfrm>
          <a:prstGeom prst="roundRect">
            <a:avLst>
              <a:gd name="adj" fmla="val 4058"/>
            </a:avLst>
          </a:prstGeom>
          <a:solidFill>
            <a:srgbClr val="080D1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245059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5C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스펙 &amp; 가성비 비교표 (tableData)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2852928"/>
          <a:ext cx="4965192" cy="2331720"/>
        </p:xfrm>
        <a:graphic>
          <a:graphicData uri="http://schemas.openxmlformats.org/drawingml/2006/table">
            <a:tbl>
              <a:tblPr/>
              <a:tblGrid>
                <a:gridCol w="1655064"/>
                <a:gridCol w="1655064"/>
                <a:gridCol w="1655064"/>
              </a:tblGrid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BD5E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비교 항목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F3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RTX 5070 (현재)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5CA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RTX 5070 Ti (비교)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8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실구매가 및 차액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D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95만 원 (기준)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D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155만 원 (+60만 원)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D1A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3DMark Time Spy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D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22,900점 (100%)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D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27,800점 (+21% 우세)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D1A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VRAM / 소비전력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D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GDDR7 12GB / 250W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D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GDDR7 16GB / 300W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D1A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추천 선택 기준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D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FHD·QHD 가성비 게이밍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D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4K 고해상도·16GB 필요 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D1A"/>
                    </a:solidFill>
                  </a:tcPr>
                </a:tc>
              </a:tr>
            </a:tbl>
          </a:graphicData>
        </a:graphic>
      </p:graphicFrame>
      <p:sp>
        <p:nvSpPr>
          <p:cNvPr id="34" name="Shape 31"/>
          <p:cNvSpPr/>
          <p:nvPr/>
        </p:nvSpPr>
        <p:spPr>
          <a:xfrm>
            <a:off x="731520" y="5577840"/>
            <a:ext cx="10725912" cy="411480"/>
          </a:xfrm>
          <a:prstGeom prst="roundRect">
            <a:avLst>
              <a:gd name="adj" fmla="val 17778"/>
            </a:avLst>
          </a:prstGeom>
          <a:solidFill>
            <a:srgbClr val="00E676">
              <a:alpha val="12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68680" y="5577840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E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[분석 데이터 출처 (sources)] UL 3DMark Time Spy · 퀘이사존 QHD 실측 벤치마크 · PC-Fit Supabase 부품 DB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9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1274552" cy="36576"/>
          </a:xfrm>
          <a:prstGeom prst="rect">
            <a:avLst/>
          </a:prstGeom>
          <a:solidFill>
            <a:srgbClr val="00F3FF">
              <a:alpha val="40000"/>
            </a:srgbClr>
          </a:solidFill>
          <a:ln w="12700">
            <a:solidFill>
              <a:srgbClr val="00F3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84048"/>
            <a:ext cx="3840480" cy="329184"/>
          </a:xfrm>
          <a:prstGeom prst="roundRect">
            <a:avLst>
              <a:gd name="adj" fmla="val 50000"/>
            </a:avLst>
          </a:prstGeom>
          <a:solidFill>
            <a:srgbClr val="00F3FF">
              <a:alpha val="15000"/>
            </a:srgbClr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84048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F3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동작하는 코드 (Working Code)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786384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프로젝트에 실제 구현된 advisorController.js &amp; PartAdvisorCard.vue 코드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6355080"/>
            <a:ext cx="11274552" cy="182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PC-FIT 2.0 : AI 부품·가격 비교 및 가성비 어드바이저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601200" y="6419088"/>
            <a:ext cx="2130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F3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SLIDE 08 / 09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5440680" cy="3749040"/>
          </a:xfrm>
          <a:prstGeom prst="roundRect">
            <a:avLst>
              <a:gd name="adj" fmla="val 3902"/>
            </a:avLst>
          </a:prstGeom>
          <a:solidFill>
            <a:srgbClr val="050811"/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5544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3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back/src/controllers/advisorController.js (Backend)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1920240"/>
            <a:ext cx="50749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// POST /api/recommend/compare-advisor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exports.compareAdvisor = async (req, res) =&gt;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const { question, currentBuild, totalPrice, budget, usage } = req.body;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// 1. Supabase parts DB 조회 + 공인 벤치마크(3DMark·퀘이사존) 매칭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const [dbParts, benchRef] = await Promise.all([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queryDbPartsForComparison(currentBuild, question),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Promise.resolve(matchBenchmarksForContext(currentBuild, question))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]);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// 2. 컨텍스트 생성 후 AI 모델 호출 &amp; JSON 정규화 반환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const buildContext = formatBuildContext(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currentBuild, totalPrice, budget, usage, '', dbParts, benchRef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const normalizedData = normalizeAdvisorResponse(parsedResult, currentBuild);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return res.json({ success: true, data: normalizedData });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};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5303520"/>
            <a:ext cx="5440680" cy="822960"/>
          </a:xfrm>
          <a:prstGeom prst="roundRect">
            <a:avLst>
              <a:gd name="adj" fmla="val 13333"/>
            </a:avLst>
          </a:prstGeom>
          <a:solidFill>
            <a:srgbClr val="00F3FF">
              <a:alpha val="12000"/>
            </a:srgbClr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5349240"/>
            <a:ext cx="5166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[백엔드 핵심 동작]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queryDbPartsForComparison으로 DB 스펙을 조회하고 matchBenchmarksForContext로 3DMark·퀘이사존 FPS를 매칭해 AI에게 전달합니다.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63640" y="1417320"/>
            <a:ext cx="5440680" cy="3749040"/>
          </a:xfrm>
          <a:prstGeom prst="roundRect">
            <a:avLst>
              <a:gd name="adj" fmla="val 3902"/>
            </a:avLst>
          </a:prstGeom>
          <a:solidFill>
            <a:srgbClr val="050811"/>
          </a:solidFill>
          <a:ln w="12700">
            <a:solidFill>
              <a:srgbClr val="FF5C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15544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C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front/src/components/domain/PartAdvisorCard.vue (Frontend)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46520" y="1920240"/>
            <a:ext cx="50749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// 빠른 질문 칩 클릭 또는 직접 질문 시 백엔드 API 호출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async submitQuestion(customQuery)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const q = (customQuery || this.questionInput || '').trim();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const res = await api.post('recommend/compare-advisor',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question: q,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currentBuild: this.parts, // 현재 견적 부품 8종 전달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totalPrice: this.totalPrice,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budget: this.budget,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usage: this.usage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});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this.result = res.data.data; // chartData·tableData·sources 바인딩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},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// 두 부품의 수치 비율로 가로 막대그래프 너비(%) 계산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getBarWidth(valA, valB, targetVal)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const max = Math.max(Number(valA) || 0, Number(valB) || 0, 1);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return Math.min(Math.max(Math.round((targetVal / max) * 100), 12), 100);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}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263640" y="5303520"/>
            <a:ext cx="5440680" cy="822960"/>
          </a:xfrm>
          <a:prstGeom prst="roundRect">
            <a:avLst>
              <a:gd name="adj" fmla="val 13333"/>
            </a:avLst>
          </a:prstGeom>
          <a:solidFill>
            <a:srgbClr val="FF0080">
              <a:alpha val="12000"/>
            </a:srgbClr>
          </a:solidFill>
          <a:ln w="12700">
            <a:solidFill>
              <a:srgbClr val="FF5C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5349240"/>
            <a:ext cx="5166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[프론트엔드 핵심 동작]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recommend/compare-advisor 응답 데이터를 받아 getBarWidth()로 두 부품의 상대 성능 막대그래프 너비(%)를 계산해 화면에 그립니다.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9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1274552" cy="36576"/>
          </a:xfrm>
          <a:prstGeom prst="rect">
            <a:avLst/>
          </a:prstGeom>
          <a:solidFill>
            <a:srgbClr val="00F3FF">
              <a:alpha val="40000"/>
            </a:srgbClr>
          </a:solidFill>
          <a:ln w="12700">
            <a:solidFill>
              <a:srgbClr val="00F3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84048"/>
            <a:ext cx="3840480" cy="329184"/>
          </a:xfrm>
          <a:prstGeom prst="roundRect">
            <a:avLst>
              <a:gd name="adj" fmla="val 50000"/>
            </a:avLst>
          </a:prstGeom>
          <a:solidFill>
            <a:srgbClr val="00E676">
              <a:alpha val="15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84048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CONCLUSION &amp; LIVE SIMULATION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786384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2학기 핵심 성과 요약 · 아쉬운 점 · 향후 개선 방향 및 실제 사이트 시연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6355080"/>
            <a:ext cx="11274552" cy="182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PC-FIT 2.0 : AI 부품·가격 비교 및 가성비 어드바이저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601200" y="6419088"/>
            <a:ext cx="2130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F3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SLIDE 09 / 09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1353312"/>
            <a:ext cx="3639312" cy="1170432"/>
          </a:xfrm>
          <a:prstGeom prst="roundRect">
            <a:avLst>
              <a:gd name="adj" fmla="val 12500"/>
            </a:avLst>
          </a:prstGeom>
          <a:solidFill>
            <a:srgbClr val="0F1626"/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417320"/>
            <a:ext cx="3639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부품 비교·검증 과정 단축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1664208"/>
            <a:ext cx="36393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00F3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원클릭 즉시 비교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457200" y="2121408"/>
            <a:ext cx="3639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유튜브·다나와 다중 검색 불필요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251960" y="1353312"/>
            <a:ext cx="3639312" cy="1170432"/>
          </a:xfrm>
          <a:prstGeom prst="roundRect">
            <a:avLst>
              <a:gd name="adj" fmla="val 12500"/>
            </a:avLst>
          </a:prstGeom>
          <a:solidFill>
            <a:srgbClr val="0F1626"/>
          </a:solidFill>
          <a:ln w="12700">
            <a:solidFill>
              <a:srgbClr val="FF5C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51960" y="1417320"/>
            <a:ext cx="3639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합리적 소비 의사결정 지원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251960" y="1664208"/>
            <a:ext cx="36393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5C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35~60만 원 절감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4251960" y="2121408"/>
            <a:ext cx="3639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모니터·게임 맞춤 등급 선택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046720" y="1353312"/>
            <a:ext cx="3639312" cy="1170432"/>
          </a:xfrm>
          <a:prstGeom prst="roundRect">
            <a:avLst>
              <a:gd name="adj" fmla="val 12500"/>
            </a:avLst>
          </a:prstGeom>
          <a:solidFill>
            <a:srgbClr val="0F162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0" y="1417320"/>
            <a:ext cx="3639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신뢰도 &amp; 출처 명시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046720" y="1664208"/>
            <a:ext cx="36393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00E6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실측 벤치마크 기반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8046720" y="2121408"/>
            <a:ext cx="3639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3DMark·퀘이사존·부품 DB 결합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2651760"/>
            <a:ext cx="5440680" cy="2697480"/>
          </a:xfrm>
          <a:prstGeom prst="roundRect">
            <a:avLst>
              <a:gd name="adj" fmla="val 6102"/>
            </a:avLst>
          </a:prstGeom>
          <a:solidFill>
            <a:srgbClr val="0F1626"/>
          </a:solidFill>
          <a:ln w="12700">
            <a:solidFill>
              <a:srgbClr val="FF5C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278892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C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[개발하며 느낀 아쉬운 점 (한계점)]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" y="3127248"/>
            <a:ext cx="48920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실시간 쇼핑몰 특가·재고 변동의 완벽한 자동 동기화 한계</a:t>
            </a:r>
            <a:endParaRPr lang="en-US" sz="10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네이버 쇼핑 최저가 검색 버튼은 연동했지만, 컴퓨존·다나와 등 현금몰의 실시간 품절 상태나 일일 특가 변동을 내부 DB 가격에 100% 자동 반영하지 못한 점이 아쉬움</a:t>
            </a:r>
            <a:endParaRPr lang="en-US" sz="1050" dirty="0"/>
          </a:p>
          <a:p>
            <a:pPr indent="0" marL="0">
              <a:lnSpc>
                <a:spcPct val="124000"/>
              </a:lnSpc>
              <a:buNone/>
            </a:pPr>
            <a:endParaRPr lang="en-US" sz="10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벤치마크 비교 기준이 메이저 인기 게임 위주로 한정됨</a:t>
            </a:r>
            <a:endParaRPr lang="en-US" sz="10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배그·사이버펑크·몬헌와일즈 등 대표 게임 평균 FPS는 정확하지만, 최신 스팀 인디 게임이나 특수 전문 작업 프로그램의 세밀한 실측 표본이 아직 부족함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63640" y="2651760"/>
            <a:ext cx="5440680" cy="2697480"/>
          </a:xfrm>
          <a:prstGeom prst="roundRect">
            <a:avLst>
              <a:gd name="adj" fmla="val 6102"/>
            </a:avLst>
          </a:prstGeom>
          <a:solidFill>
            <a:srgbClr val="0F1626"/>
          </a:solidFill>
          <a:ln w="12700">
            <a:solidFill>
              <a:srgbClr val="00F3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7960" y="278892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3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[향후 고도화 및 개선 방향]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37960" y="3127248"/>
            <a:ext cx="48920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부품 시세 변동 그래프 &amp; '매수 타이밍' AI 알림</a:t>
            </a:r>
            <a:endParaRPr lang="en-US" sz="10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최근 3개월 부품 가격 추이를 차트로 보여주고, "지금이 저점 근처입니다 vs 신제품 출시 전이니 잠시 대기하세요"를 알려주는 구매 시기 가이드 추가</a:t>
            </a:r>
            <a:endParaRPr lang="en-US" sz="1050" dirty="0"/>
          </a:p>
          <a:p>
            <a:pPr indent="0" marL="0">
              <a:lnSpc>
                <a:spcPct val="124000"/>
              </a:lnSpc>
              <a:buNone/>
            </a:pPr>
            <a:endParaRPr lang="en-US" sz="10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실사용자 벤치마크(3DMark) 후기 데이터 누적</a:t>
            </a:r>
            <a:endParaRPr lang="en-US" sz="10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견적을 맞춘 실제 유저들이 자신의 실측 프레임과 3DMark 점수를 커뮤니티에 인증·공유하여 비교 DB가 지속적으로 확장되는 구조 구축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" y="5468112"/>
            <a:ext cx="11247120" cy="731520"/>
          </a:xfrm>
          <a:prstGeom prst="roundRect">
            <a:avLst>
              <a:gd name="adj" fmla="val 17500"/>
            </a:avLst>
          </a:prstGeom>
          <a:solidFill>
            <a:srgbClr val="00E676">
              <a:alpha val="16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8" name="Text 26">
            <a:hlinkClick r:id="rId1" tooltip="https://pc-fit-tjandud.vercel.app/ 열기"/>
          </p:cNvPr>
          <p:cNvSpPr/>
          <p:nvPr/>
        </p:nvSpPr>
        <p:spPr>
          <a:xfrm>
            <a:off x="685800" y="5468112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u="sng" dirty="0">
                <a:solidFill>
                  <a:srgbClr val="F8FA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  <a:hlinkClick r:id="rId1" invalidUrl="" action="" tgtFrame="" tooltip="https://pc-fit-tjandud.vercel.app/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[실제 배포 사이트 라이브 시연]  https://pc-fit-tjandud.vercel.app/  (클릭 시 실제 사이트로 즉시 이동)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869680" y="5596128"/>
            <a:ext cx="2651760" cy="475488"/>
          </a:xfrm>
          <a:prstGeom prst="roundRect">
            <a:avLst>
              <a:gd name="adj" fmla="val 48077"/>
            </a:avLst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0" name="Text 28">
            <a:hlinkClick r:id="rId2" tooltip="https://pc-fit-tjandud.vercel.app/ 열기"/>
          </p:cNvPr>
          <p:cNvSpPr/>
          <p:nvPr/>
        </p:nvSpPr>
        <p:spPr>
          <a:xfrm>
            <a:off x="8869680" y="5596128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u="sng" dirty="0">
                <a:solidFill>
                  <a:srgbClr val="06091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  <a:hlinkClick r:id="rId2" invalidUrl="" action="" tgtFrame="" tooltip="https://pc-fit-tjandud.vercel.app/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실제 사이트 시연 시작 &gt;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소프트웨어공학 2학기 프로젝트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PC-FIT 2.0 발표자료</dc:title>
  <dc:subject>PC-FIT 2.0 AI 부품·가격 비교 어드바이저</dc:subject>
  <dc:creator>PC-FIT Team</dc:creator>
  <cp:lastModifiedBy>PC-FIT Team</cp:lastModifiedBy>
  <cp:revision>1</cp:revision>
  <dcterms:created xsi:type="dcterms:W3CDTF">2026-10-21T09:56:34Z</dcterms:created>
  <dcterms:modified xsi:type="dcterms:W3CDTF">2026-10-21T09:56:34Z</dcterms:modified>
</cp:coreProperties>
</file>